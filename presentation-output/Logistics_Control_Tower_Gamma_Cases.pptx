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d7ab4198d94ec3" /><Relationship Type="http://schemas.openxmlformats.org/officeDocument/2006/relationships/extended-properties" Target="/docProps/app.xml" Id="R0b8fa5e524474ed9" /><Relationship Type="http://schemas.openxmlformats.org/officeDocument/2006/relationships/officeDocument" Target="/ppt/presentation.xml" Id="Rdd5531fdd1ea49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efd7d914e4184"/>
  </p:sldMasterIdLst>
  <p:notesMasterIdLst>
    <p:notesMasterId xmlns:r="http://schemas.openxmlformats.org/officeDocument/2006/relationships" r:id="R81457028a775442a"/>
  </p:notesMasterIdLst>
  <p:sldIdLst>
    <p:sldId xmlns:r="http://schemas.openxmlformats.org/officeDocument/2006/relationships" id="256" r:id="R5a536f9ab9454ec0"/>
    <p:sldId xmlns:r="http://schemas.openxmlformats.org/officeDocument/2006/relationships" id="257" r:id="R74eb7d234717493e"/>
    <p:sldId xmlns:r="http://schemas.openxmlformats.org/officeDocument/2006/relationships" id="258" r:id="R1b6da03a4f964d6b"/>
    <p:sldId xmlns:r="http://schemas.openxmlformats.org/officeDocument/2006/relationships" id="259" r:id="Rec549e061e45435d"/>
    <p:sldId xmlns:r="http://schemas.openxmlformats.org/officeDocument/2006/relationships" id="260" r:id="R5397a1c3cc424792"/>
    <p:sldId xmlns:r="http://schemas.openxmlformats.org/officeDocument/2006/relationships" id="261" r:id="Ref3acf1bb32b45e9"/>
    <p:sldId xmlns:r="http://schemas.openxmlformats.org/officeDocument/2006/relationships" id="262" r:id="R6a7b9a02d60246ac"/>
    <p:sldId xmlns:r="http://schemas.openxmlformats.org/officeDocument/2006/relationships" id="263" r:id="Raebd03d80a624612"/>
    <p:sldId xmlns:r="http://schemas.openxmlformats.org/officeDocument/2006/relationships" id="264" r:id="R1f264801cce14ba0"/>
    <p:sldId xmlns:r="http://schemas.openxmlformats.org/officeDocument/2006/relationships" id="265" r:id="Rcf12b485d2a0428c"/>
    <p:sldId xmlns:r="http://schemas.openxmlformats.org/officeDocument/2006/relationships" id="266" r:id="R43f09bc546734699"/>
    <p:sldId xmlns:r="http://schemas.openxmlformats.org/officeDocument/2006/relationships" id="267" r:id="R38fbc12d2e4e4b68"/>
    <p:sldId xmlns:r="http://schemas.openxmlformats.org/officeDocument/2006/relationships" id="268" r:id="Ra33ed349940346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a03ec629a24d5f" /><Relationship Type="http://schemas.openxmlformats.org/officeDocument/2006/relationships/slideMaster" Target="/ppt/slideMasters/slideMaster1.xml" Id="R705efd7d914e4184" /><Relationship Type="http://schemas.openxmlformats.org/officeDocument/2006/relationships/notesMaster" Target="/ppt/notesMasters/notesMaster1.xml" Id="R81457028a775442a" /><Relationship Type="http://schemas.openxmlformats.org/officeDocument/2006/relationships/presProps" Target="/ppt/presProps.xml" Id="Rc68801f56fd24dae" /><Relationship Type="http://schemas.openxmlformats.org/officeDocument/2006/relationships/tableStyles" Target="/ppt/tableStyles.xml" Id="Rfaaf6439012944b7" /><Relationship Type="http://schemas.openxmlformats.org/officeDocument/2006/relationships/slide" Target="/ppt/slides/slide1.xml" Id="R5a536f9ab9454ec0" /><Relationship Type="http://schemas.openxmlformats.org/officeDocument/2006/relationships/slide" Target="/ppt/slides/slide2.xml" Id="R74eb7d234717493e" /><Relationship Type="http://schemas.openxmlformats.org/officeDocument/2006/relationships/slide" Target="/ppt/slides/slide3.xml" Id="R1b6da03a4f964d6b" /><Relationship Type="http://schemas.openxmlformats.org/officeDocument/2006/relationships/slide" Target="/ppt/slides/slide4.xml" Id="Rec549e061e45435d" /><Relationship Type="http://schemas.openxmlformats.org/officeDocument/2006/relationships/slide" Target="/ppt/slides/slide5.xml" Id="R5397a1c3cc424792" /><Relationship Type="http://schemas.openxmlformats.org/officeDocument/2006/relationships/slide" Target="/ppt/slides/slide6.xml" Id="Ref3acf1bb32b45e9" /><Relationship Type="http://schemas.openxmlformats.org/officeDocument/2006/relationships/slide" Target="/ppt/slides/slide7.xml" Id="R6a7b9a02d60246ac" /><Relationship Type="http://schemas.openxmlformats.org/officeDocument/2006/relationships/slide" Target="/ppt/slides/slide8.xml" Id="Raebd03d80a624612" /><Relationship Type="http://schemas.openxmlformats.org/officeDocument/2006/relationships/slide" Target="/ppt/slides/slide9.xml" Id="R1f264801cce14ba0" /><Relationship Type="http://schemas.openxmlformats.org/officeDocument/2006/relationships/slide" Target="/ppt/slides/slide10.xml" Id="Rcf12b485d2a0428c" /><Relationship Type="http://schemas.openxmlformats.org/officeDocument/2006/relationships/slide" Target="/ppt/slides/slide11.xml" Id="R43f09bc546734699" /><Relationship Type="http://schemas.openxmlformats.org/officeDocument/2006/relationships/slide" Target="/ppt/slides/slide12.xml" Id="R38fbc12d2e4e4b68" /><Relationship Type="http://schemas.openxmlformats.org/officeDocument/2006/relationships/slide" Target="/ppt/slides/slide13.xml" Id="Ra33ed349940346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3a7e593168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ca069c9eb04b25" /><Relationship Type="http://schemas.openxmlformats.org/officeDocument/2006/relationships/notesMaster" Target="/ppt/notesMasters/notesMaster1.xml" Id="R5ddd82c113a447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c8abab24c04d87" /><Relationship Type="http://schemas.openxmlformats.org/officeDocument/2006/relationships/notesMaster" Target="/ppt/notesMasters/notesMaster1.xml" Id="Rd33a2b7f5a7c49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c31c87e59d4e34" /><Relationship Type="http://schemas.openxmlformats.org/officeDocument/2006/relationships/notesMaster" Target="/ppt/notesMasters/notesMaster1.xml" Id="R85331c16bc0545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02836150694473" /><Relationship Type="http://schemas.openxmlformats.org/officeDocument/2006/relationships/notesMaster" Target="/ppt/notesMasters/notesMaster1.xml" Id="Re0c5e9fd8d0943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5412fdb84d4be2" /><Relationship Type="http://schemas.openxmlformats.org/officeDocument/2006/relationships/notesMaster" Target="/ppt/notesMasters/notesMaster1.xml" Id="R5eb22fd2944341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9b0db1bee74780" /><Relationship Type="http://schemas.openxmlformats.org/officeDocument/2006/relationships/notesMaster" Target="/ppt/notesMasters/notesMaster1.xml" Id="R20cd8d17fd0249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49442d23924b3a" /><Relationship Type="http://schemas.openxmlformats.org/officeDocument/2006/relationships/notesMaster" Target="/ppt/notesMasters/notesMaster1.xml" Id="Rb1681191377242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b484b000ce44b4" /><Relationship Type="http://schemas.openxmlformats.org/officeDocument/2006/relationships/notesMaster" Target="/ppt/notesMasters/notesMaster1.xml" Id="R0d7483f2feba40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57a6139cbb4012" /><Relationship Type="http://schemas.openxmlformats.org/officeDocument/2006/relationships/notesMaster" Target="/ppt/notesMasters/notesMaster1.xml" Id="Rb6aaaebd23934e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a753ee22324795" /><Relationship Type="http://schemas.openxmlformats.org/officeDocument/2006/relationships/notesMaster" Target="/ppt/notesMasters/notesMaster1.xml" Id="Ra8fad3e37e454a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64c91e80ef4865" /><Relationship Type="http://schemas.openxmlformats.org/officeDocument/2006/relationships/notesMaster" Target="/ppt/notesMasters/notesMaster1.xml" Id="Rf9e7215298d143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5c6a76ced042f0" /><Relationship Type="http://schemas.openxmlformats.org/officeDocument/2006/relationships/notesMaster" Target="/ppt/notesMasters/notesMaster1.xml" Id="R0ad80ae036ad48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4f2ee3a5324edd" /><Relationship Type="http://schemas.openxmlformats.org/officeDocument/2006/relationships/notesMaster" Target="/ppt/notesMasters/notesMaster1.xml" Id="R02ec24ef3b0246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backend/main.py;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backend/queue_optimizer.py;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backend/queue_optimizer.py; backend/data_loader.py; frontend/app.js.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backend/ml_predictor.py; backend/main.py.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 Формула и свойства распределения: NIST/SEMATECH Engineering Statistics Handbook, https://www.itl.nist.gov/div898/handbook/apr/section1/apr165.htm. Гамма-распределение не реализовано в текущем коде.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backend/ml_predictor.py; backend/data_loader.py. Формула метода моментов и свойства Gamma: NIST/SEMATECH Engineering Statistics Handbook, https://www.itl.nist.gov/div898/handbook/apr/section1/apr165.htm. Это предлагаемый метод, не реализация текущего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2; backend/ml_predictor.py. Теоретическое расширение, не текущая реализация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3–4. Результаты приведены в документе как сценарий AI; проверка в пилоте не описана.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4–5. Результаты приведены в документе как сценарий AI; проверка в пилоте не описана.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frontend/index.html; frontend/app.js; backend/main.py; backend/ai_agent.py.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backend/queue_optimizer.py; backend/ml_predictor.py; README.md. Показатели экономии выводятся из модельных правил и принятых ставок, а не из измерений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53c40249a4b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5aa62452e4f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2bc24bece40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b76e9654840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3fa54d26441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e83edd02045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90228B-1DAD-457C-AE21-D3B4C3B4D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38C053-4F16-4214-89CE-D437C2D7A1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DDC40B-7348-4890-A3B4-B52EE451C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C16506-F960-41F3-B4A0-065FF7DBD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C2F2AA-7F4E-46DF-A28D-11E1C9D528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6BBA47-1FBA-42B1-802F-412B5A094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A0A57D-3D7D-455A-BA36-F4D50B047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CEB36B-A52D-499E-BDCC-A7F6C33173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97F25F-5C60-4FC4-8DBE-E76508D9D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6D131B-8DCE-46EA-9C10-FCBCA4B1EA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e36bad5ede4e0c" /><Relationship Type="http://schemas.openxmlformats.org/officeDocument/2006/relationships/slideLayout" Target="/ppt/slideLayouts/slideLayout1.xml" Id="R4586741b2ae84580" /><Relationship Type="http://schemas.openxmlformats.org/officeDocument/2006/relationships/slideLayout" Target="/ppt/slideLayouts/slideLayout2.xml" Id="R47efc7f9a26f4269" /><Relationship Type="http://schemas.openxmlformats.org/officeDocument/2006/relationships/slideLayout" Target="/ppt/slideLayouts/slideLayout3.xml" Id="R62f89090e56645fc" /><Relationship Type="http://schemas.openxmlformats.org/officeDocument/2006/relationships/slideLayout" Target="/ppt/slideLayouts/slideLayout4.xml" Id="R52bf607bbe274cfc" /><Relationship Type="http://schemas.openxmlformats.org/officeDocument/2006/relationships/slideLayout" Target="/ppt/slideLayouts/slideLayout5.xml" Id="R9da09270d0d84fac" /><Relationship Type="http://schemas.openxmlformats.org/officeDocument/2006/relationships/slideLayout" Target="/ppt/slideLayouts/slideLayout6.xml" Id="R0ee88d3f6d874f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86741b2ae84580"/>
    <p:sldLayoutId xmlns:r="http://schemas.openxmlformats.org/officeDocument/2006/relationships" id="2147483650" r:id="R47efc7f9a26f4269"/>
    <p:sldLayoutId xmlns:r="http://schemas.openxmlformats.org/officeDocument/2006/relationships" id="2147483651" r:id="R62f89090e56645fc"/>
    <p:sldLayoutId xmlns:r="http://schemas.openxmlformats.org/officeDocument/2006/relationships" id="2147483652" r:id="R52bf607bbe274cfc"/>
    <p:sldLayoutId xmlns:r="http://schemas.openxmlformats.org/officeDocument/2006/relationships" id="2147483653" r:id="R9da09270d0d84fac"/>
    <p:sldLayoutId xmlns:r="http://schemas.openxmlformats.org/officeDocument/2006/relationships" id="2147483654" r:id="R0ee88d3f6d874f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e321acd8d4a5e" /><Relationship Type="http://schemas.openxmlformats.org/officeDocument/2006/relationships/notesSlide" Target="/ppt/notesSlides/notesSlide1.xml" Id="R128772aac66247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93224ce554b8e" /><Relationship Type="http://schemas.openxmlformats.org/officeDocument/2006/relationships/notesSlide" Target="/ppt/notesSlides/notesSlide2.xml" Id="Ra2f8493ff8ed44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2b900994d4d6c" /><Relationship Type="http://schemas.openxmlformats.org/officeDocument/2006/relationships/notesSlide" Target="/ppt/notesSlides/notesSlide3.xml" Id="R6564e126ad7f42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ab8090edc4e54" /><Relationship Type="http://schemas.openxmlformats.org/officeDocument/2006/relationships/notesSlide" Target="/ppt/notesSlides/notesSlide4.xml" Id="Ra570df2ca4fb49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a978df7374538" /><Relationship Type="http://schemas.openxmlformats.org/officeDocument/2006/relationships/notesSlide" Target="/ppt/notesSlides/notesSlide5.xml" Id="Rdf5a43439c8944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43d9e9c5749d2" /><Relationship Type="http://schemas.openxmlformats.org/officeDocument/2006/relationships/notesSlide" Target="/ppt/notesSlides/notesSlide6.xml" Id="R1bed828cc3514c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cfe0b01b5483d" /><Relationship Type="http://schemas.openxmlformats.org/officeDocument/2006/relationships/notesSlide" Target="/ppt/notesSlides/notesSlide7.xml" Id="Rf6bea3ca43f04f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d8ebe71f0430d" /><Relationship Type="http://schemas.openxmlformats.org/officeDocument/2006/relationships/notesSlide" Target="/ppt/notesSlides/notesSlide8.xml" Id="Rfb33d95f974e4b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f267b3bb744df" /><Relationship Type="http://schemas.openxmlformats.org/officeDocument/2006/relationships/notesSlide" Target="/ppt/notesSlides/notesSlide9.xml" Id="R4cd1eeff5d9841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ad0b2d2f554ee3" /><Relationship Type="http://schemas.openxmlformats.org/officeDocument/2006/relationships/notesSlide" Target="/ppt/notesSlides/notesSlide10.xml" Id="Rc979dd911536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6d1cc63054ee9" /><Relationship Type="http://schemas.openxmlformats.org/officeDocument/2006/relationships/notesSlide" Target="/ppt/notesSlides/notesSlide11.xml" Id="Rc2a9ad055e3842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b9e303596470e" /><Relationship Type="http://schemas.openxmlformats.org/officeDocument/2006/relationships/notesSlide" Target="/ppt/notesSlides/notesSlide12.xml" Id="R1c589b302f6c46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a1558c0ad4f6e" /><Relationship Type="http://schemas.openxmlformats.org/officeDocument/2006/relationships/notesSlide" Target="/ppt/notesSlides/notesSlide13.xml" Id="R3bf324557e9245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BCB91-0A93-427A-9503-7CF7C4DC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23BBF-78ED-4703-956E-491FE6A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084C4-5F3E-463F-9405-DA0F9A8B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906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0BB36-08FE-4A62-BA46-F38094A7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620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7FDED-A853-4AA7-89EF-575364D1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B0235-FCE4-43C3-8656-8917A1C7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19050">
            <a:solidFill>
              <a:srgbClr val="39C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4FC4F-5A36-4F91-BCEC-B18FB2D6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BDA1B-ED14-4361-AADE-BDA4E2E3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194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B280F-18B3-4909-AF3C-1F23E270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CA011-4845-4445-9E8D-9CA46A2F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481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C5860-414B-4A41-BC5E-F7AD8C0B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82F10-D049-4D4D-967E-FFA62E40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CONTROL TOWER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878CF-89ED-4323-A3B7-FABE7521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733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AI-агент управления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логистическими очередями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31BC8-16F8-414B-9F3D-64874349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Планирование доков, приоритетов и времени прибытия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на основе истории событий доставки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486D0-551C-482A-8691-FAF97597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F4C49-9E39-4011-A8F0-C16EBD60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Проект веб-дашборда и backend-сервиса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C7D11-A469-4408-8F0A-B0CA4D4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FastAPI  |  scikit-learn  |  JavaScript</a:t>
            </a:r>
          </a:p>
        </p:txBody>
      </p:sp>
    </p:spTree>
    <p:extLst>
      <p:ext uri="{BB962C8B-B14F-4D97-AF65-F5344CB8AC3E}">
        <p14:creationId xmlns:p14="http://schemas.microsoft.com/office/powerpoint/2010/main" val="1462347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A0E5EF-83FA-4A38-A6FB-93B96EA3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1BF16-9686-4368-8DF7-1AF6E938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55277-9C7D-4797-B74C-CEEEC88A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Узкое место возникает до дока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915FC-D50F-4FDE-8496-76FF604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208FC-4CE4-4366-9009-2998B30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687D5-F110-480E-AC8F-7ACBEFB6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Несогласованный приезд превращает время в ожидание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5AE7B-E49D-47AA-91EA-2C8D3F7D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FE6B8-8B85-4640-A3BC-360A242A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029F8-E12C-4C43-BFEE-9775DE5E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Окно склада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A709D-AB72-418D-8F99-B91C61D3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режим работы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не совпадает с 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BE5FB-5206-4BA8-9D29-8D1E777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082DF-BAB5-4C2A-A8FA-FE49C057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4230E-2A01-4B84-8428-9DB94467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E1459-95CA-4F26-93B1-834FB1CF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8BC9F-023B-4E31-BAA3-2AA927F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Поток машин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C5F30-A225-41A1-9648-557A3D8E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пики и опоздания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сгущаются по часам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F6512-7BC9-4795-B300-18650B77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34440-F295-4480-9773-76F73211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F5A51-75B3-49EB-86CF-3BF1C837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DF31F-CA1B-450D-9B39-9BC78FE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3D26A-C096-41DA-ACF4-D2082B4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Доступные бригады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EA85E-DA0D-436D-9885-7CA62201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часть ворот не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обслуживается одновременно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CAF67-1AAF-4D56-BB1D-75006B10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7D7E3-E4EB-43D3-991A-402B47A4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64499-2991-42EF-B78F-856060C3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EE8EA-51E9-4367-BF01-1FB64D1D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CACC1-0D73-4FE7-AF51-6E5DEAC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Очередь у ворот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94072B-564B-456E-8BC3-7711D98A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простой и риск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срыва SLA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78FA23-9377-4573-A441-0352AF5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DDAA0-D878-44F4-AC89-67DB0D6F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Задача системы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835EBA-CD44-4914-A6AE-0CD7D3F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98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Свести назначение слота, выбор дока и правила приоритета в один сценарий диспетчера.</a:t>
            </a:r>
          </a:p>
        </p:txBody>
      </p:sp>
    </p:spTree>
    <p:extLst>
      <p:ext uri="{BB962C8B-B14F-4D97-AF65-F5344CB8AC3E}">
        <p14:creationId xmlns:p14="http://schemas.microsoft.com/office/powerpoint/2010/main" val="1892876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82566-8C88-4469-B7E1-EE02C4EA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FBD40-70C7-4F3C-9390-8AF79963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EA2E4-DC89-408F-BCEA-185FA2E9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Единая модель сети опирается на историю рейсов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FD9B7-F3B1-4B36-99AE-5005D23A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F4D4C-2656-452A-BB51-70E8A099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F1717-A7E4-4BF8-8356-EE787240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Заявленный в README масштаб набора 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31D9B-244D-43D9-859E-D63BA989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5363D-9A57-4613-8549-7CE514F8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90388-0F52-45FC-A14C-7E863430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170 820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21EE9-990A-4447-8672-C4D4D51D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событий доставки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8872B-6F2F-45A4-9033-6F241138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85 410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BD2D3-39CF-4543-871E-44A2E7A2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грузов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80B86-75C1-42EF-B34F-40704FF9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B4212-AA17-4562-9C62-7BF302E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ИСТОЧНИКИ В МОДЕЛИ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22C3C-54FF-492A-81D4-B423836F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0A76F-BBD2-412A-B450-4EF2D7FB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События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1A092-CBCD-436F-8871-9DD2CDE6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005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план / факт прибытия, простой, своевременность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F848C-5204-447F-928F-0DBF0A1F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19E6E-9D13-4A29-825D-DEB36026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Справочники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DB253-6CD4-48FE-B317-F6790CD1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1965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склады, доки, режим работы, города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D26D0-3100-49F5-8C92-5322562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FDCF2-83A9-4FE5-ABCF-3BF873B1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Характеристики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EAC15-0437-4580-B2BA-9FC0F06C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3877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груза, контракт, вес и число мест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4F20E-A64B-4511-AD34-FE4447DB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Путь к CSV зашит в настройках проекта; сами CSV в репозитории не приложены.</a:t>
            </a:r>
          </a:p>
        </p:txBody>
      </p:sp>
    </p:spTree>
    <p:extLst>
      <p:ext uri="{BB962C8B-B14F-4D97-AF65-F5344CB8AC3E}">
        <p14:creationId xmlns:p14="http://schemas.microsoft.com/office/powerpoint/2010/main" val="281820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842F8B-80D4-4163-BDA0-6DC62E27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43A25-3E17-4DBE-8614-8DE17460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C782A-7E07-4C19-94BA-EAA22927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Очередь сортируется по операционному риску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B4229-6672-4BFA-9195-A40E2B82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6A8CD-CC93-40DC-88D6-2D918AC7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7D705-132B-4ABD-9E6D-5D452ECA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Скоринг 15–99 баллов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3AE6A-1160-4169-8BD2-632CF633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Баллы складываются из четырёх факторов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38E63-A841-45D2-87E0-0BF91378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AF467-E524-43DB-A04F-A6BC1E49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Рефрижератор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5AE32-ED88-4D9D-8BC7-37D99D49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+34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6B0D4-0C72-49DF-B663-68B5430B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CD549-CA5A-450E-AF66-419A755D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Dedicated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0F864-AC43-42B6-8726-6B22B96F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051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+24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9FF2B-A2EE-4393-A1B6-33BE1FF7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D61E8-50FE-4E92-8456-7DA383B3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Риск задержки / SLA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7726E-86F6-4C95-8BB2-0EC4D50D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до +26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31511-E918-4D13-8617-0E29FED9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42A3B-72E5-420F-A74D-C2815794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Ценность и вес груза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3D7F4-FEDD-4DAA-A3FC-7A10CB3F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577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до +16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5CF09-7ABC-4257-A269-1CAE57A5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43075"/>
            <a:ext cx="9525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7DC5F-7250-4201-BD54-053E7DE8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Уровни приоритета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69BA4-A4EA-4202-B9F7-B9EE221D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75–99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7D5589-821E-436D-A10F-6FAD419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764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Критический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3A2D8-369D-41ED-B506-3C8AF012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Fast-Track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CC707-37E9-4256-843D-8D0413B3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85E60E-13C5-4791-A769-25D6A417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55–74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C8757C-3068-4DF1-A144-EB8B7BFA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Высокий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D911F-916A-4933-A012-10721C62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первым к доку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447BE-1145-4979-929F-3C0700DD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B01ED-A8A7-42C8-B8BD-75161FB4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38–54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F6AA77-44B6-4259-AF1C-36E6F26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385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Стандартный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AFC048-556A-4909-B1AA-3CFA988B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обычная очередь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D979D5-46B1-453E-BDC2-FF122962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81C5BE-BCFF-41B3-99BA-490D0D11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15–37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CE61D9-1ED0-4C2F-AC7E-D6C37559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Гибкий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F42FEA-02DA-453F-B97E-BD622501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 с меньшей нагрузкой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5C2476-4990-4567-BD4D-AB7218DD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Окончательное назначение ограничено рабочими часами и числом активных доков.</a:t>
            </a:r>
          </a:p>
        </p:txBody>
      </p:sp>
    </p:spTree>
    <p:extLst>
      <p:ext uri="{BB962C8B-B14F-4D97-AF65-F5344CB8AC3E}">
        <p14:creationId xmlns:p14="http://schemas.microsoft.com/office/powerpoint/2010/main" val="1154682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2B5E1A-A2A1-4666-A8D5-2C0725C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2D1C-503A-47D9-9A9E-EF929374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5438E-855B-451C-B71B-28D8C57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Операционный контур: прогноз, назначение, действие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52FB4-9A2C-43B1-B3C8-75CD8AC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9CB39-481B-4D55-AAF7-21975FE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39F24-C140-4F31-ADBE-37C4A566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4E0AD-DD55-40A5-A253-59F58DB6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1B128-8896-4B7E-A621-8EEDF4CE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Событие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0860B-3E95-42B7-856C-B938FB2B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Фура прибыла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или задерживается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618BA-F873-406B-B4AC-8C785FF9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670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B1275-D20F-48B8-8756-7840F039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032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3E00C-2705-4E65-B910-2A7ABAB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79CCE-0812-4E59-AFB2-4D88FB98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FE624-39B3-4F23-8C19-D7851D2B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11003-AB3E-4042-A181-631A65E7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Приоритет, ETA,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груза и простой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80E08-4301-4FBC-9DD5-DAFB89FE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72F7C-A602-4F32-AAEA-679579D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0032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337BC-0B93-48B7-A169-CEA63955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26EE4-02EA-4CCF-90C4-0A79BE8F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51E64-61F6-4D18-85D7-BE4F5DA1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364CC-4089-4B14-AD28-37D7FBDA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Док и время в пределах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смены и мощности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943E4-272E-43C0-9C98-529F77D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670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927B0-5863-44D9-9F6B-C6892434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032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5ADD80-AA6A-4F35-BDD6-F27266E2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BD5DF-3608-4BAB-88B4-1F932D33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B6C71-1C07-4CD3-BECC-79B82364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619F0-53A7-4C0B-8C94-9D1E2137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Слот, Fast-Track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или городской хаб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6D301-771F-4430-AD5C-01BA8DD9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BA5F74-9607-432F-867E-B5438851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Если склад закрыт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B40B9-BE0F-4BAF-BE20-060271C0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720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Перенос в открытое окно или перенаправление в хаб того же города, если найден подходящий кандидат.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421EC-8FBB-4635-8BBE-8AA410ED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В демо доступны стресс-сценарий с дополнительными фурами и изменение числа активных бригад.</a:t>
            </a:r>
          </a:p>
        </p:txBody>
      </p:sp>
    </p:spTree>
    <p:extLst>
      <p:ext uri="{BB962C8B-B14F-4D97-AF65-F5344CB8AC3E}">
        <p14:creationId xmlns:p14="http://schemas.microsoft.com/office/powerpoint/2010/main" val="383007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C16528-B6BC-4534-B0FA-1A6A80AD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1781D-4BC0-47FF-965A-F362D44C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0FE83-441E-422A-93E2-F7B6D035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ML-модуль оценивает простой и предлагает час прибытия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2E493-DF7A-49E0-B06D-947EA4A9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EF854-28B4-4403-B660-87D82D5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C6272-87A8-4E48-968F-58670F78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HistGradientBoostingRegressor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B4CAB-0DD4-4033-8D7F-39B1DEDE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Обучение при запуске сервера на выборке до 45 000 событий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A7B8E-4D38-4BEB-9F93-A6AEC486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82BD5-A126-4DC7-874D-F60A1774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527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режим работы, число ворот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5E3F5-CCC0-4068-9E1B-37853506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A45E4-73B0-427F-BDC9-4E9EBB7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Груз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33540-4CE6-4C4A-BF8E-2210C739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5280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вес, места, рефрижератор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D06A2-9C85-438F-B903-53A9E2EB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DA5E3-F33B-4CA2-9082-845922AB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Рейс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07B18-E99E-41B3-9034-B662FDE7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528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события, контракт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65E3B-B129-4572-B309-4AF0F660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88BB6-9DA3-4FE3-B34F-4C8CBD48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6DE8F-4710-4EC5-9F9F-7A9DED6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час прибытия, день, задержка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55E09-5B3B-460B-A2CD-876A5276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44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F3A4D-57D6-451C-BDAB-2CE2C979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22E33-7B35-45CC-B656-B83F2521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 сценария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1E5FA-DAD3-4668-BC96-9B7BE894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18:00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73A6B-4B5C-4D4D-993A-AD040E83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241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пользовательский слот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7093E9-8A61-46A1-B9B5-D2EF2B8B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19475"/>
            <a:ext cx="376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75AFA-6A08-43C9-B17C-C575D96F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432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22FBD7-3B1A-4E1A-97D9-3B12583D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24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3333E4-6922-47A2-A480-9D356C89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81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рекомендация модели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154BF6-E631-41A7-8DD4-3261E1EA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Час выбирается по минимальному прогнозу среди открытых окон.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7278F-6E3A-4428-9E64-2DAA79F6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Качество требует отдельной проверки на отложенной выборке: текущая MAE считается на тех же данных, что использовались для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1736054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8E506F-5417-419E-8972-83B90F7A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B82F6-C586-46CD-8911-13F38F30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E4D94-A05A-4F8B-9596-85B4E891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Гамма-распределение для времени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A305B-AFE6-400C-ABA1-FA0FE447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D84D1-13F5-47F6-81AF-36C2D94F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76E90-693A-41DB-940D-CF05888C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Плотность вероятности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1CD9F-7BC0-431B-9026-D70AB654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f(t | α, θ)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6841E-ACD6-455F-8DE0-AB2920BB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t^(α−1) · e^(−t/θ)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E6545-DD41-465F-902C-8FC742C3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37B9D-70C1-49EF-A8F0-41D76596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Γ(α) · θ^α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7E81A-5928-4DBF-921C-C52EF49C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3C0D2"/>
                </a:solidFill>
                <a:latin typeface="Arial"/>
                <a:ea typeface="Arial"/>
                <a:cs typeface="Arial"/>
              </a:rPr>
              <a:t>t ≥ 0   α &gt; 0   θ &gt;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F043A-0E35-4E6A-BF3F-C11152FE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Среднее  E[T] = αθ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84E5C-6B17-4CF9-9281-065012EC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Дисперсия  Var[T] = αθ²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6FB12-6F43-402D-9CA2-710B25E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α задаёт форму, θ растягивает шкалу времени.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E324B-B5DF-4DE1-BE95-C0A77BDE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B2C13-EC06-414C-8E57-4CE9F96C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 параметров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EC200-ADE2-498D-975E-976C40E9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Случай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A5552-4FF5-43EE-935D-EB85058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2, θ = 25 мин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B7D86-0458-4568-ABD5-AD6A0259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Среднее: 50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18AFA-5261-4932-BCD2-9E07E708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Мода: 25 мин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69B68-A2D7-4A56-B0C8-42F55D66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2F5D9-FD63-4A72-89B7-F727ADC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Случай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72306-3619-4BCC-86DF-BA5ABE56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4, θ = 15 мин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D1F6D-9EEF-4618-A8B1-A0D3C1B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Среднее: 60 мин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9C112-50C5-41D0-9233-FAA1109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Мода: 45 мин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D3E6A-7770-40D3-BB99-28130167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052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Параметры иллюстративные, они не оценены на данных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051644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6A53A-6D03-451C-BEB3-A12ED1D0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BED86-D7A5-48B8-8E86-8EDB43FD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F72EF-C8FE-475E-BBEA-5DB5B670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Параметры можно оценить по истории и перевести в риск SLA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A57E0-621E-4B23-8348-BEECBD61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64E43-4C84-43C4-828A-0ED8BCBF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25CE0-6156-4484-A1F7-9C6AF56E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Оценка методом моментов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A7757-EA2C-4525-8136-CAA71808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 положительным наблюдениям времени 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5B4AA-FD44-4BE3-B16F-A79AE772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α̂ = x̄² / s²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334B7-E448-4EDD-AC82-E25D91D4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θ̂ = s² / x̄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6DBA4-EB84-47E3-9CE7-30F86EC6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504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x̄ — среднее время   |   s² — выборочная дисперсия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875EB-1C2F-4BA2-BD3B-0DE5CAF6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8E977-B873-4008-A4DA-7B4AEA69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Оценка для диспетчера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E3F46-827C-4667-BDB7-5884C295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P(T &gt; L) = 1 − FΓ(L; α̂, θ̂)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3700B-38EE-4BA4-89F1-C7E2E0AC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L — допустимый простой по SLA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651D2-C584-4832-BA60-F26A9FD6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F8F5D-96D6-41C1-BAF6-79112E39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Выбирать слот можно по меньшей вероятности превышения SLA или по 90-му перцентилю времени ожидания.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9788F-AA26-483D-A8B7-5BCE57AE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54CC1-4F56-45CC-839E-12EC0877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Практическое ограничение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0BD83-8ADA-4505-BDB6-03ED9177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29175"/>
            <a:ext cx="7572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Оценивать отдельно по складу и типу операции; проверять калибровку на отложенных периодах и сравнивать с текущим ML-прогнозом.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39774-95C6-44C3-A54E-B6BE2FB4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816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Это предлагаемое расширение: в репозитории сейчас обучается HistGradientBoostingRegressor.</a:t>
            </a:r>
          </a:p>
        </p:txBody>
      </p:sp>
    </p:spTree>
    <p:extLst>
      <p:ext uri="{BB962C8B-B14F-4D97-AF65-F5344CB8AC3E}">
        <p14:creationId xmlns:p14="http://schemas.microsoft.com/office/powerpoint/2010/main" val="1941486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FA584-168E-43DB-AE6E-89B7DC81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99E38-FCB3-47BF-A629-A747A757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D0912-7521-40E4-AB9D-9DBE034F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G/G/c связывает поток, доки и хвост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EF758-73A7-4E2F-AAB6-B2403F09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88ADC-B5CF-475A-965E-97ADEEB5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E4FBB-B18A-453C-A645-2FCFD723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Очередь с общим распределением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7B4FD-2D8B-4653-B9DC-A4B0417F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97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G/G/c: интервалы прибытия и время обслуживания имеют произвольные распределения, c — число работающих доков.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E3B33-A4A1-4312-B006-092FFC64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ρ = λ · E[S] /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CE50F-F4F5-48D1-B0E1-E000E2EB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λ — поток прибытий   |   E[S] — среднее обслуживание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527D6-1A9F-4A81-8C5E-44D37556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Для устойчивой очереди требуется ρ &lt;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ECAEC-8C6B-4B31-958C-E912C8EC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BA5F6-F4D3-44FE-8552-C80D0FED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Почему здесь уместна Gamma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DACAB-310D-4398-A090-D82480A9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857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Время простоя положительно и часто имеет правый хвост. Gamma(k, θ) может приближать такую форму.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E578F-1EAD-44D4-B518-F72C4202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Сравнивать риск по хвосту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422C1-F03E-4A2E-AAC2-32E0A85A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P90 / P95 ожидания и вероятность превышения SLA показывают редкие долгие задержки, которые теряются в среднем.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96FF2-9718-4BE1-BD9F-1E165E50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650DD-5B8D-4301-ACC6-189A7182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Аналитическая постановка из руководства. Текущий backend не рассчитывает очередь G/G/c и не подгоняет Gamma.</a:t>
            </a:r>
          </a:p>
        </p:txBody>
      </p:sp>
    </p:spTree>
    <p:extLst>
      <p:ext uri="{BB962C8B-B14F-4D97-AF65-F5344CB8AC3E}">
        <p14:creationId xmlns:p14="http://schemas.microsoft.com/office/powerpoint/2010/main" val="433331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C88E81-30A3-4D80-B830-D7A28DE7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48AEC-8D0D-4FFF-BD35-54AF6C7B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FF485-0F78-4062-A032-E73EB7D0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Атланта: открытый хаб снимает часть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23A9B-E13C-43A3-A90A-FD755CF9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951D2-6410-4541-94DE-6E71DBA6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7020F-4DFF-4614-8502-ACB4EFDC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Узел FAC00012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1590A-ACB9-41BF-A430-E1AC08D1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16 доков  |  08:00–17:00  |  3 278 событий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6526D-C670-40F7-A509-8E31F751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49,1%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33D3A-9399-40C0-BA32-5DAD5FDE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прибытия вне часов работы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05359-230B-4EE8-B878-6EDDB091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95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1D359-166B-4DAF-B21B-36593C11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Три примера из сценария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DE623-7F9D-4A40-BFBA-ACBED29D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LOAD00064616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8EB9C-7247-4952-9965-E72CD1BC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Рефрижератор, 03:45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40FDF-60D7-4C1E-8C90-3F56A845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103 → 28 мин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39AFB-7CA4-4EE3-9E6B-7D0C23CA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AF033-BA9B-4905-BB05-4E2E2064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384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455BF-2592-495C-94C1-F698F72B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71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LOAD00064692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FA05E-7023-4D9F-AE4E-DA2B4E4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Dry Van, 07:19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1FD00-1D94-4870-ADCE-3996483F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133 → 27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B1E66-4F6F-46B5-BC0D-F6AFBF3E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FAC00043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CBD58-5FFB-4F01-BCEA-B98E34A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F1073-2468-4EC3-96FF-5DBF2240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LOAD00064555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CE470-A871-4CEE-9577-AD14F868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Приоритет Fast 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57869-F8EE-4173-A238-95A899C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386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102 → 10 мин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EEEEE-9904-4F73-9CB2-1B5A2888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−92 мин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8A4A9-4BB4-4310-8BD2-1C494890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705F6C-C573-4A1C-B300-F08478F9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Средний простой в окне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4B04C-5254-4A14-9428-8AB6395B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78,2 → 21,4 мин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74CF87-8EA8-4B02-A01D-9033058F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−72,7%  |  910 мин сэкономлено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5F67C8-18F9-45EF-867C-B22344A5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48275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$1 137,50 расчетного штрафа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83A537-29E4-45BC-ABDF-C5A24961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Сценарный расчёт руководства, не результат производственного пилота. Экономия зависит от доступности хабов и принятых ставок.</a:t>
            </a:r>
          </a:p>
        </p:txBody>
      </p:sp>
    </p:spTree>
    <p:extLst>
      <p:ext uri="{BB962C8B-B14F-4D97-AF65-F5344CB8AC3E}">
        <p14:creationId xmlns:p14="http://schemas.microsoft.com/office/powerpoint/2010/main" val="3154012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94499-BEBF-4485-85DC-13E7111F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A1DB1-72A8-4DF8-B52F-A7427287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85F40-F3CA-4127-B2D8-0D2A5D8E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Филадельфия: связка дневного и круглосуточного хаба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9E1CC-426A-4F8A-A872-5ABC95D6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9909D-56DE-4F14-B3C4-49718891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8EE77-896B-4CD3-91CE-C8722ACC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FAC00008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DB9C1-93CD-4F18-AB05-AA616CEF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110 доков  |  08:00–17:00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E516C-7983-49F0-950A-9D71EFC1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47,9% прибытий вне часов работы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35405-30E6-4625-9497-191E056C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95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9B491-0F6C-48EA-A49F-8C2EB3A6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E4EAA-C3F6-41C9-A5EA-EB21371A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144 дока  |  работает 24/7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4767B-E2F0-400F-93BB-4C5A019E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6 870 событий в кластере из двух хабов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102C2-92F2-4E8D-AA10-F6532BB2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A1338-397B-4816-8D36-B408EB4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Примеры маршрута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788E7-D6E7-450B-999D-493DC49B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05:51  рефрижератор: 72 → 24 мин на FAC00027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C7C61-D86C-4E3D-8F91-7D336FDE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10:48  Dedicated Fast Track: 148 → 10 мин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0281C-E84E-4A83-8AFC-582593F7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95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4C411-F7D6-4EC2-BE03-00AF0DD9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Средний простой FAC00008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E8ED6-447D-4FD3-AE81-4CE02542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100,9 → 18,3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AC2AF-4DA3-411E-9925-F929553E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−81,9%  |  1 322 мин  |  $1 652,50 за окно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189F6-A76C-485E-8F9C-6CF0C35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Сценарный расчёт руководства, не результат производственного пилота. Денежная оценка зависит от принятых ставок.</a:t>
            </a:r>
          </a:p>
        </p:txBody>
      </p:sp>
    </p:spTree>
    <p:extLst>
      <p:ext uri="{BB962C8B-B14F-4D97-AF65-F5344CB8AC3E}">
        <p14:creationId xmlns:p14="http://schemas.microsoft.com/office/powerpoint/2010/main" val="10267751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E4524-396B-4EFB-8589-45491886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A8466-4A48-42B6-A976-CA7219FA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0A0EB-6444-4DDE-B547-B2A7D89B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54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Control Tower объединяет карту сети и рабочее место диспетчера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8FC28-DBE4-46EC-AF4B-04AC4377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3518B-BD1A-4A7D-B2D7-D826E077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029DD-C5AC-49F9-8F7D-BC136B22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Сводка сети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260B6-0EF4-4454-A6BD-FF22DA40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Очередь склада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69A6A-8E7B-43C3-B6CD-077420F3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95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Диалог с агентом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C2453-CD32-497A-BC0A-D377ED5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F5A21-B052-49B5-BB32-64443157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3F7A6-C108-41AB-AA6D-878F4077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50 объектов сети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средний простой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своевременность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узкие места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9E0A6-5BBC-4073-ADB1-94EAFCE9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Выбор склада по режиму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 текущим показателям.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0C14F-6F4A-4293-9A77-7039A5B2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почасовой профиль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загрузка бригад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таблица рейсов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фильтры по риску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FCB36-5890-4266-8F8B-5268E8B0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386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Результат с назначенным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слотом и доком.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9F7D6-4A54-4686-B2B1-85CDDF2C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479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запрос обычным языком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вызов инструментов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автономный режим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Gemini / OpenAI / Ollama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C7103-DD71-42BC-97C1-FD4DA06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386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Ответ синхронизирует выбранный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 и снимок оптимизации.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27C2F-59AD-4EE9-A4EC-A18E844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14321-4DA0-46D8-B707-7E7BFFF7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API: /api/overview  •  /api/optimize  •  /api/predict  •  /api/agent/chat</a:t>
            </a:r>
          </a:p>
        </p:txBody>
      </p:sp>
    </p:spTree>
    <p:extLst>
      <p:ext uri="{BB962C8B-B14F-4D97-AF65-F5344CB8AC3E}">
        <p14:creationId xmlns:p14="http://schemas.microsoft.com/office/powerpoint/2010/main" val="17853600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97E91-FCEF-440E-8300-B7564ECD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62AF5-F4D6-4BB3-B96D-91E85C1E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42947-8270-4C9D-A9A2-3B2EA4FB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54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Эффект показан как сценарий модели, а не как результат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CEFB3-4568-4072-930F-37721F7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68C95-EF78-4CD1-8378-A7C4AEAF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E5940-E138-44E6-B362-299EA680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Что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3B624-5D14-4072-9C66-5FF0C2C8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загрузка и агрегация истории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скоринг рейсов и расписание доков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прогноз времени простоя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перенаправление в городской хаб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веб-дашборд и чат агента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AAD59-0302-4BA2-BACD-0EDF4FF0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19B87-D62C-4F34-91BA-D9CF414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Что нужно проверить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E93AC-6CB0-47B6-B452-303EC459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качество прогноза на holdout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фактическое время обработки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пропускную способность смен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доступность партнёрских хабов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стоимость ожидания для бизнеса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6A1C0-07D0-4B0C-8121-3C5EC083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BBF05-4564-4778-BC77-75E4163E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Рекомендуемый следующий этап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42F89-4B1B-4F37-93AF-0B456539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Пилот на одном складе: сравнить baseline и рекомендации на одинаковых днях, согласовать ограничения и зафиксировать целевые метрики.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41F3F-35A2-4C4E-A6D0-80E8C115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Экономия в интерфейсе рассчитывается по условным ставкам ($75/час ожидания и расход топлива на холостом ходу).</a:t>
            </a:r>
          </a:p>
        </p:txBody>
      </p:sp>
    </p:spTree>
    <p:extLst>
      <p:ext uri="{BB962C8B-B14F-4D97-AF65-F5344CB8AC3E}">
        <p14:creationId xmlns:p14="http://schemas.microsoft.com/office/powerpoint/2010/main" val="389817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2026-10-24T09:36:23.2130000Z</dcterms:created>
  <dcterms:modified xsi:type="dcterms:W3CDTF">2026-10-24T09:36:23.2130000Z</dcterms:modified>
</coreProperties>
</file>