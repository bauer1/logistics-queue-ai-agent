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f8e87b134e4c67" /><Relationship Type="http://schemas.openxmlformats.org/officeDocument/2006/relationships/extended-properties" Target="/docProps/app.xml" Id="R49f5c497f61d4b4c" /><Relationship Type="http://schemas.openxmlformats.org/officeDocument/2006/relationships/officeDocument" Target="/ppt/presentation.xml" Id="R2aeac9e5ffc6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06aaab3794fa3"/>
  </p:sldMasterIdLst>
  <p:notesMasterIdLst>
    <p:notesMasterId xmlns:r="http://schemas.openxmlformats.org/officeDocument/2006/relationships" r:id="R620c8f0dcfb842e1"/>
  </p:notesMasterIdLst>
  <p:sldIdLst>
    <p:sldId xmlns:r="http://schemas.openxmlformats.org/officeDocument/2006/relationships" id="256" r:id="R30a3baa4c26e42ec"/>
    <p:sldId xmlns:r="http://schemas.openxmlformats.org/officeDocument/2006/relationships" id="257" r:id="R1254d55f77d7491f"/>
    <p:sldId xmlns:r="http://schemas.openxmlformats.org/officeDocument/2006/relationships" id="258" r:id="R9cdb4a090e194fed"/>
    <p:sldId xmlns:r="http://schemas.openxmlformats.org/officeDocument/2006/relationships" id="259" r:id="Rcb5efec0b6a0484a"/>
    <p:sldId xmlns:r="http://schemas.openxmlformats.org/officeDocument/2006/relationships" id="260" r:id="R735a48e9d6bc4453"/>
    <p:sldId xmlns:r="http://schemas.openxmlformats.org/officeDocument/2006/relationships" id="261" r:id="Rad78ded914844cd0"/>
    <p:sldId xmlns:r="http://schemas.openxmlformats.org/officeDocument/2006/relationships" id="262" r:id="R8141cc649c3d4e25"/>
    <p:sldId xmlns:r="http://schemas.openxmlformats.org/officeDocument/2006/relationships" id="263" r:id="Rd229c4bac01649c4"/>
    <p:sldId xmlns:r="http://schemas.openxmlformats.org/officeDocument/2006/relationships" id="264" r:id="R7f61015787ff4972"/>
    <p:sldId xmlns:r="http://schemas.openxmlformats.org/officeDocument/2006/relationships" id="265" r:id="R158c2c9f802642ac"/>
    <p:sldId xmlns:r="http://schemas.openxmlformats.org/officeDocument/2006/relationships" id="266" r:id="R6cb9b86e68534fc8"/>
    <p:sldId xmlns:r="http://schemas.openxmlformats.org/officeDocument/2006/relationships" id="267" r:id="R820ef7c95b28474a"/>
    <p:sldId xmlns:r="http://schemas.openxmlformats.org/officeDocument/2006/relationships" id="268" r:id="Rd03a1a8edb8a4c83"/>
    <p:sldId xmlns:r="http://schemas.openxmlformats.org/officeDocument/2006/relationships" id="269" r:id="R4e98c8fb6f0241f0"/>
    <p:sldId xmlns:r="http://schemas.openxmlformats.org/officeDocument/2006/relationships" id="270" r:id="Rde9c9e95a3c04b44"/>
    <p:sldId xmlns:r="http://schemas.openxmlformats.org/officeDocument/2006/relationships" id="271" r:id="R6d7ab376626c48ec"/>
    <p:sldId xmlns:r="http://schemas.openxmlformats.org/officeDocument/2006/relationships" id="272" r:id="R190b259180ab4636"/>
    <p:sldId xmlns:r="http://schemas.openxmlformats.org/officeDocument/2006/relationships" id="273" r:id="Ra0024c4ef5dd4dd2"/>
    <p:sldId xmlns:r="http://schemas.openxmlformats.org/officeDocument/2006/relationships" id="274" r:id="R5d159739f59c42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ffa5bbc54149e7" /><Relationship Type="http://schemas.openxmlformats.org/officeDocument/2006/relationships/slideMaster" Target="/ppt/slideMasters/slideMaster1.xml" Id="Rbd106aaab3794fa3" /><Relationship Type="http://schemas.openxmlformats.org/officeDocument/2006/relationships/notesMaster" Target="/ppt/notesMasters/notesMaster1.xml" Id="R620c8f0dcfb842e1" /><Relationship Type="http://schemas.openxmlformats.org/officeDocument/2006/relationships/presProps" Target="/ppt/presProps.xml" Id="R522d7f29c5c2435a" /><Relationship Type="http://schemas.openxmlformats.org/officeDocument/2006/relationships/tableStyles" Target="/ppt/tableStyles.xml" Id="R1bb477dde6eb4c34" /><Relationship Type="http://schemas.openxmlformats.org/officeDocument/2006/relationships/slide" Target="/ppt/slides/slide1.xml" Id="R30a3baa4c26e42ec" /><Relationship Type="http://schemas.openxmlformats.org/officeDocument/2006/relationships/slide" Target="/ppt/slides/slide2.xml" Id="R1254d55f77d7491f" /><Relationship Type="http://schemas.openxmlformats.org/officeDocument/2006/relationships/slide" Target="/ppt/slides/slide3.xml" Id="R9cdb4a090e194fed" /><Relationship Type="http://schemas.openxmlformats.org/officeDocument/2006/relationships/slide" Target="/ppt/slides/slide4.xml" Id="Rcb5efec0b6a0484a" /><Relationship Type="http://schemas.openxmlformats.org/officeDocument/2006/relationships/slide" Target="/ppt/slides/slide5.xml" Id="R735a48e9d6bc4453" /><Relationship Type="http://schemas.openxmlformats.org/officeDocument/2006/relationships/slide" Target="/ppt/slides/slide6.xml" Id="Rad78ded914844cd0" /><Relationship Type="http://schemas.openxmlformats.org/officeDocument/2006/relationships/slide" Target="/ppt/slides/slide7.xml" Id="R8141cc649c3d4e25" /><Relationship Type="http://schemas.openxmlformats.org/officeDocument/2006/relationships/slide" Target="/ppt/slides/slide8.xml" Id="Rd229c4bac01649c4" /><Relationship Type="http://schemas.openxmlformats.org/officeDocument/2006/relationships/slide" Target="/ppt/slides/slide9.xml" Id="R7f61015787ff4972" /><Relationship Type="http://schemas.openxmlformats.org/officeDocument/2006/relationships/slide" Target="/ppt/slides/slide10.xml" Id="R158c2c9f802642ac" /><Relationship Type="http://schemas.openxmlformats.org/officeDocument/2006/relationships/slide" Target="/ppt/slides/slide11.xml" Id="R6cb9b86e68534fc8" /><Relationship Type="http://schemas.openxmlformats.org/officeDocument/2006/relationships/slide" Target="/ppt/slides/slide12.xml" Id="R820ef7c95b28474a" /><Relationship Type="http://schemas.openxmlformats.org/officeDocument/2006/relationships/slide" Target="/ppt/slides/slide13.xml" Id="Rd03a1a8edb8a4c83" /><Relationship Type="http://schemas.openxmlformats.org/officeDocument/2006/relationships/slide" Target="/ppt/slides/slide14.xml" Id="R4e98c8fb6f0241f0" /><Relationship Type="http://schemas.openxmlformats.org/officeDocument/2006/relationships/slide" Target="/ppt/slides/slide15.xml" Id="Rde9c9e95a3c04b44" /><Relationship Type="http://schemas.openxmlformats.org/officeDocument/2006/relationships/slide" Target="/ppt/slides/slide16.xml" Id="R6d7ab376626c48ec" /><Relationship Type="http://schemas.openxmlformats.org/officeDocument/2006/relationships/slide" Target="/ppt/slides/slide17.xml" Id="R190b259180ab4636" /><Relationship Type="http://schemas.openxmlformats.org/officeDocument/2006/relationships/slide" Target="/ppt/slides/slide18.xml" Id="Ra0024c4ef5dd4dd2" /><Relationship Type="http://schemas.openxmlformats.org/officeDocument/2006/relationships/slide" Target="/ppt/slides/slide19.xml" Id="R5d159739f59c42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0f07d664943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f90a6daa884387" /><Relationship Type="http://schemas.openxmlformats.org/officeDocument/2006/relationships/notesMaster" Target="/ppt/notesMasters/notesMaster1.xml" Id="R55658cb76981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29e5150b4d45e6" /><Relationship Type="http://schemas.openxmlformats.org/officeDocument/2006/relationships/notesMaster" Target="/ppt/notesMasters/notesMaster1.xml" Id="R1a41100bf3614a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5209f7e5044f81" /><Relationship Type="http://schemas.openxmlformats.org/officeDocument/2006/relationships/notesMaster" Target="/ppt/notesMasters/notesMaster1.xml" Id="R635f5c96ac1d44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b849f8b3354028" /><Relationship Type="http://schemas.openxmlformats.org/officeDocument/2006/relationships/notesMaster" Target="/ppt/notesMasters/notesMaster1.xml" Id="R8f4af35c843e4b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66a6e6d2d54406" /><Relationship Type="http://schemas.openxmlformats.org/officeDocument/2006/relationships/notesMaster" Target="/ppt/notesMasters/notesMaster1.xml" Id="R4d71723ddbf14a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6d162de052445e" /><Relationship Type="http://schemas.openxmlformats.org/officeDocument/2006/relationships/notesMaster" Target="/ppt/notesMasters/notesMaster1.xml" Id="R9f630fb43b1b4f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c1185e9cce4176" /><Relationship Type="http://schemas.openxmlformats.org/officeDocument/2006/relationships/notesMaster" Target="/ppt/notesMasters/notesMaster1.xml" Id="R0c10f308257e41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8aeb41230147f1" /><Relationship Type="http://schemas.openxmlformats.org/officeDocument/2006/relationships/notesMaster" Target="/ppt/notesMasters/notesMaster1.xml" Id="Rcde88533a1a746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a888fcf1d94c04" /><Relationship Type="http://schemas.openxmlformats.org/officeDocument/2006/relationships/notesMaster" Target="/ppt/notesMasters/notesMaster1.xml" Id="R66b61992271f48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eb5990c0314eb6" /><Relationship Type="http://schemas.openxmlformats.org/officeDocument/2006/relationships/notesMaster" Target="/ppt/notesMasters/notesMaster1.xml" Id="R5113a1c8c36147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167089e85146f1" /><Relationship Type="http://schemas.openxmlformats.org/officeDocument/2006/relationships/notesMaster" Target="/ppt/notesMasters/notesMaster1.xml" Id="Rc8a5bc7bd66e4a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1ea87884984d98" /><Relationship Type="http://schemas.openxmlformats.org/officeDocument/2006/relationships/notesMaster" Target="/ppt/notesMasters/notesMaster1.xml" Id="R35f0ca4ab44c48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85c623074542c9" /><Relationship Type="http://schemas.openxmlformats.org/officeDocument/2006/relationships/notesMaster" Target="/ppt/notesMasters/notesMaster1.xml" Id="R807721eb6d3647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71e0293e9449c8" /><Relationship Type="http://schemas.openxmlformats.org/officeDocument/2006/relationships/notesMaster" Target="/ppt/notesMasters/notesMaster1.xml" Id="R788754d75c4b4e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e2496bc9224d94" /><Relationship Type="http://schemas.openxmlformats.org/officeDocument/2006/relationships/notesMaster" Target="/ppt/notesMasters/notesMaster1.xml" Id="R306d65735a8441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c25a4fe172418f" /><Relationship Type="http://schemas.openxmlformats.org/officeDocument/2006/relationships/notesMaster" Target="/ppt/notesMasters/notesMaster1.xml" Id="R2b753190dbf74a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282178d7b34959" /><Relationship Type="http://schemas.openxmlformats.org/officeDocument/2006/relationships/notesMaster" Target="/ppt/notesMasters/notesMaster1.xml" Id="R0c2931f7904347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89af033c724e56" /><Relationship Type="http://schemas.openxmlformats.org/officeDocument/2006/relationships/notesMaster" Target="/ppt/notesMasters/notesMaster1.xml" Id="R337b313e23064e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1c3ba27bc540a7" /><Relationship Type="http://schemas.openxmlformats.org/officeDocument/2006/relationships/notesMaster" Target="/ppt/notesMasters/notesMaster1.xml" Id="R30db3d3dd03746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backend/main.py;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ATA Economics and Industry Data (2024 estimates); FHWA, Our Nation’s Highways 2026, Freight Travel. Источники: https://www.trucking.org/economics-and-industry-data ; https://www.fhwa.dot.gov/policyinformation/pubs/our_nations_highways_2026/travel.cfm. Доля ATA 72,7% и 11,27 млрд тонн относятся к оценке ATA для 2024 года; FHWA сообщает 65% и 13,1 млрд тонн по Freight Analysis Framework за 2023 год. Методики и периоды различаются.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backend/queue_optimizer.py;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backend/queue_optimizer.py; backend/data_loader.py; frontend/app.js.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backend/ml_predictor.py; backend/main.py.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 Формула и свойства распределения: NIST/SEMATECH Engineering Statistics Handbook, https://www.itl.nist.gov/div898/handbook/apr/section1/apr165.htm. Гамма-распределение не реализовано в текущем коде.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backend/ml_predictor.py; backend/data_loader.py. Формула метода моментов и свойства Gamma: NIST/SEMATECH Engineering Statistics Handbook, https://www.itl.nist.gov/div898/handbook/apr/section1/apr165.htm. Это предлагаемый метод, не реализация текущего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2; backend/ml_predictor.py. Теоретическое расширение, не текущая реализация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6. Теоретическая формула ожидания; она не реализована в коде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3–4. Результаты приведены в документе как сценарий AI; проверка в пилоте не описана.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Руководство_AI_Агент_Логистика.pdf, стр. 4–5. Результаты приведены в документе как сценарий AI; проверка в пилоте не описана.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frontend/index.html; frontend/app.js; backend/main.py; backend/ai_agent.py.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backend/queue_optimizer.py; backend/ml_predictor.py; README.md. Показатели экономии выводятся из модельных правил и принятых ставок, а не из измерений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1aadc011744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524b448cd49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1dd6f45cc46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26f2520ff45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e6b741c654b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4eddde314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8D1CD6-06F7-4E6E-8775-D95DF4D34F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8A294C-EB79-49C3-ADAA-60EB79B6E8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6B188A-9C1D-4BF2-97A6-4D3B82D26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0868C2-07DE-461B-A278-35E07FC43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6EF818-65D5-4423-9A43-D35F7B65E1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859F0F-141E-406E-9E85-B05ED6D45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EF4274-6CB3-441C-BA70-EB4A9C0E73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34A9CD3-DCD9-4886-92C0-9E980F9AA6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0505F4-A816-4E99-9C76-760B759141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293F66-841A-4A6B-8BBF-62AF6F15E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d4e63e83e64900" /><Relationship Type="http://schemas.openxmlformats.org/officeDocument/2006/relationships/slideLayout" Target="/ppt/slideLayouts/slideLayout1.xml" Id="R4e6a9e1cc2b74316" /><Relationship Type="http://schemas.openxmlformats.org/officeDocument/2006/relationships/slideLayout" Target="/ppt/slideLayouts/slideLayout2.xml" Id="R94cc23900e224528" /><Relationship Type="http://schemas.openxmlformats.org/officeDocument/2006/relationships/slideLayout" Target="/ppt/slideLayouts/slideLayout3.xml" Id="R304bc17d0f0e4f04" /><Relationship Type="http://schemas.openxmlformats.org/officeDocument/2006/relationships/slideLayout" Target="/ppt/slideLayouts/slideLayout4.xml" Id="R8ceffba7d5914e95" /><Relationship Type="http://schemas.openxmlformats.org/officeDocument/2006/relationships/slideLayout" Target="/ppt/slideLayouts/slideLayout5.xml" Id="Rc3102274211e4100" /><Relationship Type="http://schemas.openxmlformats.org/officeDocument/2006/relationships/slideLayout" Target="/ppt/slideLayouts/slideLayout6.xml" Id="R17fd7b31a46e40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a9e1cc2b74316"/>
    <p:sldLayoutId xmlns:r="http://schemas.openxmlformats.org/officeDocument/2006/relationships" id="2147483650" r:id="R94cc23900e224528"/>
    <p:sldLayoutId xmlns:r="http://schemas.openxmlformats.org/officeDocument/2006/relationships" id="2147483651" r:id="R304bc17d0f0e4f04"/>
    <p:sldLayoutId xmlns:r="http://schemas.openxmlformats.org/officeDocument/2006/relationships" id="2147483652" r:id="R8ceffba7d5914e95"/>
    <p:sldLayoutId xmlns:r="http://schemas.openxmlformats.org/officeDocument/2006/relationships" id="2147483653" r:id="Rc3102274211e4100"/>
    <p:sldLayoutId xmlns:r="http://schemas.openxmlformats.org/officeDocument/2006/relationships" id="2147483654" r:id="R17fd7b31a46e40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26aa9ef304249" /><Relationship Type="http://schemas.openxmlformats.org/officeDocument/2006/relationships/notesSlide" Target="/ppt/notesSlides/notesSlide1.xml" Id="Rc64f6957f0ea45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a2eb1105140b0" /><Relationship Type="http://schemas.openxmlformats.org/officeDocument/2006/relationships/notesSlide" Target="/ppt/notesSlides/notesSlide2.xml" Id="Ra9eeb461a3b741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5667973844947" /><Relationship Type="http://schemas.openxmlformats.org/officeDocument/2006/relationships/notesSlide" Target="/ppt/notesSlides/notesSlide3.xml" Id="R52f31018491447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243d440434174" /><Relationship Type="http://schemas.openxmlformats.org/officeDocument/2006/relationships/notesSlide" Target="/ppt/notesSlides/notesSlide4.xml" Id="R6ca317d63a6d47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7ef1dc08e4ebb" /><Relationship Type="http://schemas.openxmlformats.org/officeDocument/2006/relationships/notesSlide" Target="/ppt/notesSlides/notesSlide5.xml" Id="Rc8dc85141b0743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538aae87b44ea5" /><Relationship Type="http://schemas.openxmlformats.org/officeDocument/2006/relationships/notesSlide" Target="/ppt/notesSlides/notesSlide6.xml" Id="Rbb0e3a54b18f4d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e3c227b4c44f1" /><Relationship Type="http://schemas.openxmlformats.org/officeDocument/2006/relationships/notesSlide" Target="/ppt/notesSlides/notesSlide7.xml" Id="R6ca43ee5af9948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fc815cb804e7d" /><Relationship Type="http://schemas.openxmlformats.org/officeDocument/2006/relationships/notesSlide" Target="/ppt/notesSlides/notesSlide8.xml" Id="Rad417dd920214d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a5e2551fb40f3" /><Relationship Type="http://schemas.openxmlformats.org/officeDocument/2006/relationships/notesSlide" Target="/ppt/notesSlides/notesSlide9.xml" Id="Ra845a45cb84646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d5064daee4e7b" /><Relationship Type="http://schemas.openxmlformats.org/officeDocument/2006/relationships/notesSlide" Target="/ppt/notesSlides/notesSlide10.xml" Id="Rd146e41f137a4e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acba2598e4fa6" /><Relationship Type="http://schemas.openxmlformats.org/officeDocument/2006/relationships/notesSlide" Target="/ppt/notesSlides/notesSlide11.xml" Id="R062acb3f575d49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96653870b4af9" /><Relationship Type="http://schemas.openxmlformats.org/officeDocument/2006/relationships/notesSlide" Target="/ppt/notesSlides/notesSlide12.xml" Id="R036a14d2f40749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5ddd708c643ba" /><Relationship Type="http://schemas.openxmlformats.org/officeDocument/2006/relationships/notesSlide" Target="/ppt/notesSlides/notesSlide13.xml" Id="R24b07b12637b4d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9a5be97ed418e" /><Relationship Type="http://schemas.openxmlformats.org/officeDocument/2006/relationships/notesSlide" Target="/ppt/notesSlides/notesSlide14.xml" Id="R4f10173aaa1c41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b2c8715a2444a" /><Relationship Type="http://schemas.openxmlformats.org/officeDocument/2006/relationships/notesSlide" Target="/ppt/notesSlides/notesSlide15.xml" Id="R351572120ad746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0d84c0c0b4c98" /><Relationship Type="http://schemas.openxmlformats.org/officeDocument/2006/relationships/notesSlide" Target="/ppt/notesSlides/notesSlide16.xml" Id="R711a6c85696647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fdb4258014622" /><Relationship Type="http://schemas.openxmlformats.org/officeDocument/2006/relationships/notesSlide" Target="/ppt/notesSlides/notesSlide17.xml" Id="R0a70e364968e41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5b310c82d4014" /><Relationship Type="http://schemas.openxmlformats.org/officeDocument/2006/relationships/notesSlide" Target="/ppt/notesSlides/notesSlide18.xml" Id="R7e281bad6ea944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4fa7ce6444db4" /><Relationship Type="http://schemas.openxmlformats.org/officeDocument/2006/relationships/notesSlide" Target="/ppt/notesSlides/notesSlide19.xml" Id="Ra390a84c4ee344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4BD02-4645-49B7-8D62-62C113D2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CD304-285A-4E09-B0D0-DC8D2856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6553B-9A06-4AE8-9E15-B30E44EE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906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BBDCD-DA64-4945-A171-E6240035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620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576AA-DA3A-471B-B114-F37B076A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E36A9-9E9E-4E84-ADEE-04D815B9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19050">
            <a:solidFill>
              <a:srgbClr val="39C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672AD-10A5-47F9-B21C-7776F530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C55C7-DABC-430F-9E50-D94389B0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194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60749-FF8F-4AF8-97FE-CD447109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48959-966F-4B71-A544-606412C8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481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79DE2-4832-4CE2-8E3E-FE38D08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E7BC7-7906-43D0-A537-39CD523A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CONTROL TOWER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2CBE5-DF85-4B70-9A09-8DC2DE2E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733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AI-агент управления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логистическими очередями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AA133-8BAF-437F-9513-4BE921EA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Планирование доков, приоритетов и времени прибытия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 основе истории событий доставки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4910B-B996-44CF-8993-18435F9A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09BA3-0F83-4D45-9F62-A20AB76E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Проект веб-дашборда и backend-сервиса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8B1CD-A9D3-412C-97A3-BB39F01D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FastAPI  |  scikit-learn  |  JavaScript</a:t>
            </a:r>
          </a:p>
        </p:txBody>
      </p:sp>
    </p:spTree>
    <p:extLst>
      <p:ext uri="{BB962C8B-B14F-4D97-AF65-F5344CB8AC3E}">
        <p14:creationId xmlns:p14="http://schemas.microsoft.com/office/powerpoint/2010/main" val="1069094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AD4158-5F8A-4FAF-8859-7D63873F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8481B-110C-4C72-93A0-7B313EC0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D9695-A086-434E-BA0D-5C41BBAE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Грузовики перевозят почти три четверти грузов США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5A724-E033-4EC9-9B19-7AB227F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CEEB8-0840-48A7-A507-5D29F081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45B26-A97E-42B8-B0D8-2E3BACE1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Масштаб отрасли в 2024 году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7E712-CD61-4864-A52C-B4A8E628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72,7%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85CCA-C5D6-492B-844D-E6730B5F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доли внутреннего груза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 весу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45C0F-5825-44A9-A74B-8429F7A2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0275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11,27 млрд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8292D-81B3-4513-8090-6C1AA5D7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тонн перевезено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CDB04-F13B-4CAF-9AC2-69BEA70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0275"/>
            <a:ext cx="3286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$906 млрд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75CF4-8592-458D-98C1-1E2738EE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выручка грузоперевозок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289D0-DB2F-453D-AC5E-17DB0C50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12592-F4F0-4DBF-867B-11A1294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От магистрали к доку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1BF33-DBAE-43B3-9496-D182EC1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D70CB-EEBD-46DD-B1B7-495419F2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Поставщик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9567E-CA1D-43B6-9C4B-8338DAE3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74AEA-1DC5-4EC5-B9A5-E1FC4399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86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0AF26-7E94-466C-983D-58748D66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CE902-C3B4-4BDD-BD07-5209AB15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Автомагистраль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1BA1C-6F67-4E89-B620-66CC2CA2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529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78C89-04BE-4C7E-A44B-AAFF0F34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86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0C25E-8BDB-42A0-9E80-6596D1E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139DB-B676-4EFD-923A-56F5A304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Распределительный центр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8CC72A-D197-4ECB-AC2A-DEC1B9E4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529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8DC58-5A7C-42D7-AC47-38298588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86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E158C7-E295-4854-90F5-AFD41CCE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52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C6203-4593-45F3-881B-B2D06735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24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Магазин / производство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234CB3-0D8A-4D21-8C48-E4BC7323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4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У ворот грузы встречаются с ограниченными окнами работы и числом доков. Здесь возникают очереди, простой и риск срыва SLA.</a:t>
            </a:r>
          </a:p>
        </p:txBody>
      </p:sp>
    </p:spTree>
    <p:extLst>
      <p:ext uri="{BB962C8B-B14F-4D97-AF65-F5344CB8AC3E}">
        <p14:creationId xmlns:p14="http://schemas.microsoft.com/office/powerpoint/2010/main" val="380408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489595-F8F6-4F2A-B2A3-828E9244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A6317-DE63-42B2-8B31-CB2F6A44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452C6-FB75-4B63-8B13-35370EE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Узкое место возникает до дока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89856-71BE-4EB9-839D-629D8220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DB967-2D12-4A1D-93C0-6690A85B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83662-31B4-41C1-813F-59E3C363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Несогласованный приезд превращает время в ожидание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6D36C-25AB-4334-B1F5-3CCA864E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7BFC8-6828-47DB-A266-45542484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7B9DA-9C74-4C49-BB0C-D2B88D9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Окно склада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AC234-30EA-487B-87E6-06C44E19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режим работы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не совпадает с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A9FED-958D-44BF-B8C3-AF200DCF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6EC0C-C3BA-40EE-87E0-D45D2F7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37553-A158-49C5-8892-062187E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7A3C0-6699-4D74-A6CD-A92EA29E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7280B-C733-4DC8-A4FC-3E85403E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Поток машин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026B6-E772-49A0-8682-6739703C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пики и опоздания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сгущаются по часам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0513A-BB85-42B9-8910-6197CD6D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F0535-5622-49CB-A7B4-B65924C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5F2FA-3B12-430F-B4F4-F3F38A82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C04E0-C1DC-4C51-BF09-7CFCC5E2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B0F94-B346-40D0-9844-A5804085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Доступные бригады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47B5D-8B20-4F0E-B86C-57744F77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часть ворот не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обслуживается одновременно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192D6-D5A0-43AE-BF33-AFAB7514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1CF95-20BD-45E0-AB0C-2281D99A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20143-30CF-49F0-A084-5827DB6E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1ACF0-EB9C-4896-B924-BDD7B4EE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0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1F892-79CD-4E2C-93B8-CC518927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Очередь у ворот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C07BED-8944-4BF9-BBA3-54684DD3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766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простой и риск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срыва SLA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C2929-F0DF-4EF9-8597-F30E7989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2B3655-ECAE-4E5F-88C8-988304A0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Задача системы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396D58-DBB8-4DD5-B95B-8E93A35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98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Свести назначение слота, выбор дока и правила приоритета в один сценарий диспетчера.</a:t>
            </a:r>
          </a:p>
        </p:txBody>
      </p:sp>
    </p:spTree>
    <p:extLst>
      <p:ext uri="{BB962C8B-B14F-4D97-AF65-F5344CB8AC3E}">
        <p14:creationId xmlns:p14="http://schemas.microsoft.com/office/powerpoint/2010/main" val="638485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B5ADB-71A0-4430-B3C8-B4946DE1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B336E-A879-4D69-B360-882726F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34A0A-3E9D-4A5F-8986-569B2C40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Прибытия, простой и режимы работы образуют основу расчёта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A0C2A-92C0-4F14-B00B-6C722C0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0883E-913F-4E4B-B504-5642AFD4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EBA40-8802-4A05-8D96-DAE786CB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Данные событий соединяются со справочниками складов и грузов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99135-3A70-4E34-8961-7E43FA8B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8C0FA-2499-43B9-B7B2-60A2B84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58DDA-A0A2-4CF3-954A-FD8391F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170 820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F29FA-F243-4BC2-B59F-47FBA598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событий доставки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CE302-28C5-4D45-BE93-AE4C0AB2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85 410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01500-B366-4C45-8A81-0B6BDF30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47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грузов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7FD6A-B4D3-497A-A392-0CF94E8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C05EC-BB50-4DA6-A8F6-D0E328D2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Из времён строятся две 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F8FFE-8AAE-4A8B-B7D4-40E3E41F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Δtᵢ = (tᵃᶜᵗᵢ − tˢᶜʰᵉᵈᵢ) / 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3A8DF-A500-4814-BE81-10B50593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Опоздание или ранний приезд, минуты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899E0-ACF9-4B78-8DCF-8FE6A05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Iᵢᴼᴼᴴ = 1, если склад закрыт в час прибытия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B333E-AC6D-4DD8-BA28-50AA70FA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Доля Rᶠᴼᴼᴴ = число внеурочных событий / Nᶠ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17F30-DEBD-4C40-A74A-6A601E95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Источник: delivery_events.csv, facilities.csv и loads.csv. Датасеты не включены в репозиторий.</a:t>
            </a:r>
          </a:p>
        </p:txBody>
      </p:sp>
    </p:spTree>
    <p:extLst>
      <p:ext uri="{BB962C8B-B14F-4D97-AF65-F5344CB8AC3E}">
        <p14:creationId xmlns:p14="http://schemas.microsoft.com/office/powerpoint/2010/main" val="1576949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026A2-947A-4340-868F-55E3E06E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8BFDA-B2FB-415D-B8E3-AF629AC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AC670-92DC-449E-8AD0-53F35AB5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Индекс перегрузки учитывает простой и плотность потока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1673D-2D9A-4C8D-8E91-4C9F860A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F6F59-DF4F-4916-8DEC-595AE85F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646CB-F1EA-47D0-AE7C-38062EF1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CIᶠ = min(100, 45 · D̄ᶠ/120 + 35 · Rᶠᴼᴼᴴ + min(20, 8 · Nᶠ/(100 · Mᶠ)))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BAB17-0BB9-4A36-90F0-AFD2905F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8A6D2-C0AD-430A-BE74-716AB76A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45 баллов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1C254-AC6E-45AA-881B-890219DB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9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средний простой, нормированный на 120 мин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727D2-3A32-405A-BED7-19E38872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DEF7C-4A3F-4337-9EB4-77FF6339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24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35 баллов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931EC-0DAF-48A7-8E04-E497DD8F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9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доля прибытий вне рабочего окна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03F06-559D-426B-A741-585A04F9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DCB8E-8D04-492B-B49A-F0A64CB1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до 20 баллов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FAC4F-DE47-4C26-AD1E-3814CF1F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число событий на один физический док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2466A-9EAA-4403-93B1-C1BCFC9E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3D116-ECFC-4F81-A689-044E4CC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D̄ᶠ — средний исторический простой   |   Nᶠ — число событий   |   Mᶠ — число доков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41F5D-89EA-4EBC-8806-A1656CDE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Индекс ограничен сверху 100 и помогает ранжировать узкие места сети.</a:t>
            </a:r>
          </a:p>
        </p:txBody>
      </p:sp>
    </p:spTree>
    <p:extLst>
      <p:ext uri="{BB962C8B-B14F-4D97-AF65-F5344CB8AC3E}">
        <p14:creationId xmlns:p14="http://schemas.microsoft.com/office/powerpoint/2010/main" val="453512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66FDCA-7D21-4F95-BC70-8A9EE1F6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355DF-8913-4C89-8343-5E0730BE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85CAA-A235-4A6C-B361-6C609AB0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Приоритет рейса складывается из четырёх факторов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03391-ABFF-478D-816B-04133D19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CD5DA-4F5C-4C8E-BF9B-E8E64942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87403-394E-4687-99B7-38ED330B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Pᵢ = clip[15,99](Wгруз + Wконтракт + WSLA + Wценность)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4FDAA-FE54-46CE-A256-06AF8786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Баллы складываются из четырёх факторов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C6F8B-F604-426B-8D23-3B715091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5F16A-554D-498F-8A3C-D20DC1DB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Рефрижератор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80104-CE8B-49B5-8562-DD792BAE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+34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32098-0C3A-4DB8-A169-4B290D18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15200-0734-40BB-94E5-908ECDA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Dedicated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32F41-F303-45D0-83F3-CEB03CF1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432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+24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5B60A-CD24-451F-94A6-801C989A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DFA79-2904-4976-AA6E-21A674C7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Риск задержки / SLA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6F8C1-048D-4AE1-8FD9-989011D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62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до +26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02B92-FFE8-4BF2-BDFC-EC8A3486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38675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7B1DE-1337-46D3-A7B2-62DD159C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Ценность и вес груза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4ADFF-BFFB-462B-BD5E-7EF26F59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815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до +16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73DD2-9733-4078-AA1D-050A350B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43075"/>
            <a:ext cx="9525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AB3A6-A52B-4A5D-A443-FA9F1DFA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Уровни приоритета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E19E1-04F4-43D7-BC59-94C1ED6C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75–99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F47BE-FF0F-4631-BF7E-28E61C46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764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Критический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621E8-D3E6-47F5-8E31-20673425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Fast-Track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F862F-F347-4CBC-A853-6B21FC19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FF668-445E-489F-BB04-8ADAD432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55–74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18EC06-95A1-412D-ACE7-2646F858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Высокий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D0D748-E6F0-48BB-982B-53346E3E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первым к доку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2B1C7-5DEE-45EE-9ACF-ED1BCCDE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33415-AA91-4978-BDA5-D4E9D1B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38–54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02BCB-BACC-45AC-AF79-9F7DD83B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385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Стандартный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85B9BA-8575-4542-A959-2642EDC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обычная очередь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512E38-7A48-4F6B-B462-D90FAE04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57BF22-FFE3-4C67-B627-575A85C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15–37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8873C4-1839-4CA6-B669-26DC6B5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Гибкий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9CE57C-8FD5-4EC3-B203-4F1F8953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571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 с меньшей нагрузкой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D5502C-8A41-44B9-9D4C-776E2C27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Окончательное назначение ограничено рабочими часами и числом активных доков.</a:t>
            </a:r>
          </a:p>
        </p:txBody>
      </p:sp>
    </p:spTree>
    <p:extLst>
      <p:ext uri="{BB962C8B-B14F-4D97-AF65-F5344CB8AC3E}">
        <p14:creationId xmlns:p14="http://schemas.microsoft.com/office/powerpoint/2010/main" val="507721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16876-9952-415E-9DD6-55286A87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BAB1D-A36B-49CA-9918-DEECD6C4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16FD2-B759-4BA5-B61D-8FBDE6F8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Время у дока оценивается физической формулой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0CEFA-C6DB-4657-9EAB-493D68C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7547C-1A7E-47D1-A51C-971F2633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E0BB3-4799-44D8-853C-0D7A9630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Sᵢ = clip[25,120](round(S₀ + 6,5 · mᵢ/10 000 + 1,15 · pᵢ + 12 · Iᵢᴿᵉᶠ))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ADD9C-A8B4-4305-868A-39F619C2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S₀ = 32 мин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5BD5E-399D-404E-9B5F-C87916A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Pickup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DC4AE-12A7-4FB7-845A-1A8702B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495E1-8344-4B83-BFA4-48910989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S₀ = 38 мин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205B6-6EDE-4429-ACF3-F1936B6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71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D3798-17A5-4CFE-B4BD-703149D2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28A53-FCB2-49EC-A95C-B993DFCD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+6,5 мин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1B17A-FB33-46F4-8768-792B375E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 каждые 10 000 фунтов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3D98D-75F3-4CC2-B845-A7B233A5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61383-0B01-4780-A778-2ADEF66C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+1,15 мин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67E96-BB14-4BF6-BA0F-6D6D22A1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 каждую паллету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B3514-EA65-466D-BAD3-16369916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5DDAF-9CC7-495F-94FA-E0C2E7D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+12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2C30B-BFC8-454D-A586-C8B76005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14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проверка рефрижератора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A67D0-0990-440A-A01D-9B29DF5E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4B572-1497-413E-A2D5-362545D8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04DC8-44D2-4195-8D32-10A84AFA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F9075-3866-47B8-8337-8711CE1B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304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Delivery, 30 000 lbs,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18 паллет, Reefer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408D9-5C35-4AC5-AFE5-1FC8C789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957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38 + 19,5 + 20,7 + 12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≈ 90 мин у дока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0E3CF-F8FA-40EC-9863-EF545178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Округление и ограничение диапазоном 25–120 мин выполняются в коде.</a:t>
            </a:r>
          </a:p>
        </p:txBody>
      </p:sp>
    </p:spTree>
    <p:extLst>
      <p:ext uri="{BB962C8B-B14F-4D97-AF65-F5344CB8AC3E}">
        <p14:creationId xmlns:p14="http://schemas.microsoft.com/office/powerpoint/2010/main" val="1532815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C695A-709B-4A39-B138-62576546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F5F59-2590-41C9-9FDE-4D8932BE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78B94-9961-4E3C-AD74-950901B3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Диспетчер назначает рейсы на активные доки по волнам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98AC6-FA21-46C6-97AC-87F5C24D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05472-037F-426D-8A4B-FEF33341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DCE81-F713-46F3-B8CB-E91CECA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Число активных секций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C92D8-7839-4BF2-9FE1-3681FE60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57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 = max(2, min(8, round(Mᶠ/16)))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2381A-D353-4B27-8ADC-CFB96E95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Волна прибытия: wᵢ = floor(hᵢ/3)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7E8A1-A2BA-43BF-8CD8-601117B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Внутри 3-часовой волны порядок задаёт ключ (wᵢ, −Pᵢ, tᵃᶜᵗᵢ).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7B9B4-F02B-4A76-887D-BC42CEAE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ADF22-6D43-4FA6-ABB4-AD92DA5B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Первый свободный док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5939B-DC33-4938-872D-D9383F8C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4667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b* = arg min τᵦ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A01FC-B67C-483C-AC15-7F8B2535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Wᵢ(queue) = max(0, (tᵢ(start) − tᵢ(effective))/60)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3B6CF-5BDD-485D-82CB-FDEFB8F0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Док занят до конца обработки Sᵢ и ещё 5 минут пересменки.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B9A0B-8B02-4042-ABB9-0FE5F469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Простой после оптимизации ограничен исходным простоем и минимумом 8/14 мин плюс расчётное ожидание.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C7776-5322-4A38-8B07-63DF7B30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387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Это имитация очереди для выбранного окна данных, а не непрерывный оптимизатор расписания.</a:t>
            </a:r>
          </a:p>
        </p:txBody>
      </p:sp>
    </p:spTree>
    <p:extLst>
      <p:ext uri="{BB962C8B-B14F-4D97-AF65-F5344CB8AC3E}">
        <p14:creationId xmlns:p14="http://schemas.microsoft.com/office/powerpoint/2010/main" val="8913033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7750B-F062-484E-B34C-CFC3E7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AD9C8-FC87-4B7E-921A-36B15C78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AF635-556E-4795-A6BB-800BDE6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ML оценивает простой по 15 признакам события и склада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63D49-DBC5-451F-A7E0-9E15D68C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59A11-8A9A-47EF-B4AF-04B91EB7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47B12-2622-43F8-AA5A-25121D9A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HistGradientBoostingRegressor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57FEA-7D69-4589-A42D-54EE6C66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HistGradientBoostingRegressor · до 45 000 событий · 100 итераций · глубина до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A6673-0D37-48C9-A076-20C87426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684B2-7831-4E53-9400-1DD89967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574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ворота, смена, тип объекта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2B314-CAEA-417B-9815-15B09E2B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EE79C-3D6F-47BE-B282-DC0FDEE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Груз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00456-33A4-40B3-9C5E-95057C74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4325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вес, паллеты, тип груза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D7A36-0933-4063-B6AA-E4C06B62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5938D-3A74-44DD-8124-A8B090F3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Рейс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10FC9-AE70-4166-85E8-9547F55D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290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события и контракт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642EC-63EB-41FF-BA16-BAC787A3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BCA95-A158-4F8C-80EC-E90B1022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BF70F-111A-4D1F-8CDA-3381DA3C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14800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час, день недели, опоздание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C6014-84C1-4CCA-AA10-A45153C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BE71B-54EE-4829-B339-12EA96E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Поток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FD94F-9087-4049-88C6-B3DD070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005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почасовая нагрузка на док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01879-B8E0-4C3F-8A74-786817ED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77A88-F93B-4ECE-B1C6-1C5B2E0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D2C24-BC49-4F4A-81F8-2A7FEDCE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Цель обучения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207EA-0208-4824-A589-20F8E6C4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442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ŷᵢ = clip[5,300](0,65 Dᵢʰⁱˢᵗ + 0,35 P̃ᵢᵒᵖ)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CACE5-1653-4BB4-A00C-87F69C83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4238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Операционный штраф учитывает закрытые ворота, вес, паллеты и опоздание.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88D8C-3C9E-4877-AAD3-5846D9F1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MAE в коде считается на той же выборке, на которой модель обучалась.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9479BC-65CF-4B04-A010-C55ED68D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Это не независимая оценка качества на holdout.</a:t>
            </a:r>
          </a:p>
        </p:txBody>
      </p:sp>
    </p:spTree>
    <p:extLst>
      <p:ext uri="{BB962C8B-B14F-4D97-AF65-F5344CB8AC3E}">
        <p14:creationId xmlns:p14="http://schemas.microsoft.com/office/powerpoint/2010/main" val="1742292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690A0-6784-42D0-B388-A947C9C2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6068D-DAF5-4332-BAAA-D91DBAA0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CD177-2DF1-4685-BFEB-00F8841A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37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Рекомендация часа минимизирует прогноз по открытым слотам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B54DF-AEAB-4E33-97E1-7425D603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09E54-B07B-444F-960A-CF5A3D0A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BF9D1-14BB-4B85-93CA-4AF66477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Для каждого часа h модель предсказывает простой f(x(h))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4052A-0650-4139-8EFF-F59F682F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D̂(h) = f̂(x(h)) + 0,45 · Wgate(h)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F8623-D6F4-4044-9285-097B3C17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Wgate(h) — ожидание до открытия ворот, если склад закрыт.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F0D70-854B-463F-8A56-99284144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39BA1-B4D3-440E-BD90-C211FDE7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752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h* = arg min D̂(h),   h ∈ Hopen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24BE9-E513-4E4A-AC5D-02D6EFD2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Сравниваются только часы, когда склад работает.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A1E39-B010-435E-95D8-BD1CF41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В онлайн-сценарии почасовая нагрузка задаётся эвристикой пиковых часов; обучающий признак нагрузки считается из событий выборки.</a:t>
            </a:r>
          </a:p>
        </p:txBody>
      </p:sp>
    </p:spTree>
    <p:extLst>
      <p:ext uri="{BB962C8B-B14F-4D97-AF65-F5344CB8AC3E}">
        <p14:creationId xmlns:p14="http://schemas.microsoft.com/office/powerpoint/2010/main" val="554357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90F6B-C64F-4E06-8FC8-1B0874FF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FF553-ACA8-43E1-A906-F23D5CB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12956-8310-4A08-B8A9-288AB889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Gamma описывает положительный хвост времени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15B67-72B6-4568-A7B2-8BD0AC07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25A63-25EB-4FB6-AB57-021A6D7D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77FA2-39A4-430B-AC9B-8237DC0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Плотность вероятности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BE34F-061E-4C5F-B43C-E59DA90F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f(t | α, θ)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D83B2-7EC5-4744-93A9-71EAD78D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t^(α−1) · e^(−t/θ)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E49FD-90D7-421E-BB94-434F8575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88452-4AEB-43E1-9B9F-8CB60D83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Γ(α) · θ^α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408FC-8A3F-46E6-9E80-08BBFAD0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3C0D2"/>
                </a:solidFill>
                <a:latin typeface="Arial"/>
                <a:ea typeface="Arial"/>
                <a:cs typeface="Arial"/>
              </a:rPr>
              <a:t>t ≥ 0   α &gt; 0   θ &gt;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C4011-810C-4B00-8552-20594935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Среднее  E[T] = αθ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0B06D-4CC9-42E5-86D1-81D14633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Дисперсия  Var[T] = αθ²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E9703-607C-4D9C-BA74-85D93795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α задаёт форму, θ растягивает шкалу времени.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ADF1D-4B87-4C21-A44C-E13302BA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2C738-E477-4F8D-8829-EE90355B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 параметров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E6D69-DD08-473F-8901-0B50F6E5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Случай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B594D-695A-4B64-AB50-23D31F75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2, θ = 25 мин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BBCB9-27E1-49E8-B8C3-B0594498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Среднее: 50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6C0A5-F3B2-4B00-AD0F-DB6BA8EC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Мода: 25 мин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F74C9-E919-4864-9BF8-DA0937B8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948C5-1B9E-4269-846A-4BEA1E6B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Случай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7670E-71BF-4111-BD26-65E6702A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4, θ = 15 мин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9303C-A5CF-4933-8303-A5628B65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Среднее: 60 мин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CAAFF4-186B-41EB-9B95-A0E31C9F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Мода: 45 мин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13A3C-B224-4B23-870C-657A5CB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052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Параметры иллюстративные, они не оценены на данных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3066274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55CFA-362D-466C-B7FE-8E2B40AC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88391-A3A7-4BFD-8237-BD4B0FE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E9301-4BEA-43DE-AC00-BD34B45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87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Оценка Gamma переводит историю в вероятность нарушения SLA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EB72D-491B-4949-B44B-327FF1CE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BD459-84FD-4107-80F6-054D29C8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F366D-582A-412E-85C6-2576DF74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Оценка методом моментов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AB9D9-F2DA-4EE0-BCB4-4848326A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 положительным наблюдениям времени 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0D67C-0CCD-4303-9195-ADC85D5B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α̂ = x̄² / s²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79883-7CB8-4E13-9617-8AB06E6C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θ̂ = s² / x̄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2E738-F8B6-4519-BEDF-FD629286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504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x̄ — среднее время   |   s² — выборочная дисперсия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0C046-29E9-4ABF-B2B3-BC7BC15B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B9246-E610-4A6C-9811-96D3008B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Оценка для диспетчера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BFCAA-1CFC-4296-8340-EAD350E5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P(T &gt; L) = 1 − FΓ(L; α̂, θ̂)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78D72-25EA-420B-A626-F6ED005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L — допустимый простой по 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99C9F-F483-47A1-9485-31FC0574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20D7B-F9E3-4CDA-A39F-3871E432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Выбирать слот можно по меньшей вероятности превышения SLA или по 90-му перцентилю времени ожидания.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908BF-A7C7-4241-B2E0-657EB019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874A8-6191-4927-8294-C54906E9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Практическое ограничение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4A901-9607-4D36-BAE2-90A85CD7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29175"/>
            <a:ext cx="7572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Оценивать отдельно по складу и типу операции; проверять калибровку на отложенных периодах и сравнивать с текущим ML-прогнозом.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0A8C0-44F7-4A26-8561-1FDE4D00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816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Это предлагаемое расширение: в репозитории сейчас обучается HistGradientBoostingRegressor.</a:t>
            </a:r>
          </a:p>
        </p:txBody>
      </p:sp>
    </p:spTree>
    <p:extLst>
      <p:ext uri="{BB962C8B-B14F-4D97-AF65-F5344CB8AC3E}">
        <p14:creationId xmlns:p14="http://schemas.microsoft.com/office/powerpoint/2010/main" val="13788095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C1304-5D43-4DAF-BC2F-72D20693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59EA3-B0BC-4520-9FB2-68D80CF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2D90C-9A9F-4AF3-A229-8E4438BC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G/G/c связывает поток, вариативность и число доков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7D9CC-C140-4034-8D7F-F125810F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2AD45-7511-439A-A59A-9DD5713C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33DE6-F8D6-45B4-A59D-78EFA607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Очередь с общим распределением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D08B3-3F3B-403E-9811-5B93B4AE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97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G/G/c: интервалы прибытия и время обслуживания имеют произвольные распределения, c — число работающих доков.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EE893-2207-45C7-BB3E-870F3A4C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ρ = λ · E[S] /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C4B3F-6F66-41B8-A92D-509B1AE4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λ — поток прибытий   |   E[S] — среднее обслуживание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55776-93EA-4B54-91CC-45921CE6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Для устойчивой очереди требуется ρ &lt; 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7A6AE-B2CD-446E-BA8F-DBC37EAF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D0456-1F1C-492F-B1AC-1B4C5301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Почему здесь уместна Gamma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DB0D5-5D9A-44F8-8352-7A0D6A75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857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Время простоя положительно и часто имеет правый хвост. Gamma(k, θ) может приближать такую форму.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4C066-1BBC-4A0F-B998-CFE7C959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Сравнивать риск по хвосту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9E4D8-5A5A-43D4-8652-40D1E5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P90 / P95 ожидания и вероятность превышения SLA показывают редкие долгие задержки, которые теряются в среднем.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BD139-522B-42DF-B674-D257F216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E4231-9667-4FB7-9CA0-02845839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Аналитическая постановка из руководства. Текущий backend не рассчитывает очередь G/G/c и не подгоняет Gamma.</a:t>
            </a:r>
          </a:p>
        </p:txBody>
      </p:sp>
    </p:spTree>
    <p:extLst>
      <p:ext uri="{BB962C8B-B14F-4D97-AF65-F5344CB8AC3E}">
        <p14:creationId xmlns:p14="http://schemas.microsoft.com/office/powerpoint/2010/main" val="18363070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A6DEF-A7D2-4A2F-81D3-3F7973CB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62EDE-23B0-4378-BA83-E1389879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0939B-2732-4DEB-BCA0-2A930E0F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Ожидание в G/G/c растёт вместе с вариативностью и загрузкой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3012F-1580-4F60-8F3F-CC0143C8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212A1-E666-498A-B5CF-2BEC3782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6513D-CEE7-4285-AAEA-F68A265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1100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E[Wq] ≈ ((cₐ² + cₛ²)/2) · (ρ^(√(2(c+1))−1) / (c(1−ρ))) · E[S]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EC21A-C311-4A4F-9F0B-F68ACD14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cₐ² = Var(Iₐ) / E[Iₐ]²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26BF0-3EE9-47F1-A137-98C30F98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вариативность интервалов между прибытием фур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3FB57-B803-453C-9110-E6403772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cₛ² = Var(S) / E[S]²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EA703-B536-425F-9A32-3E80D37E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Gamma-время обслуживания: cₛ² = 1/αₛ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06AFB-F42E-4C10-98BB-01BF37D0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54FCC-B78E-4B68-9E91-BC1F57CE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При ρ → 1 множитель 1/(1−ρ) резко увеличивает ожидание.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DAD20-010C-4BCC-8A64-FFE1ECF0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Слоты могут сгладить поток прибытия, а городской хаб — снизить λ и загрузку ρ. Это аналитическая интерпретация, не расчёт текущего backend.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462B1-D31E-426F-8F95-E5BBC57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10620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Аппроксимация среднего ожидания для G/G/c приведена в руководстве. В проекте она пока не вычисляется.</a:t>
            </a:r>
          </a:p>
        </p:txBody>
      </p:sp>
    </p:spTree>
    <p:extLst>
      <p:ext uri="{BB962C8B-B14F-4D97-AF65-F5344CB8AC3E}">
        <p14:creationId xmlns:p14="http://schemas.microsoft.com/office/powerpoint/2010/main" val="904393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D7987B-A645-461C-9EF0-0E5D8169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15516-4BD1-4431-85C6-1682343B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52972-B0BA-4A05-A704-5A6F391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Атланта: открытый хаб снимает часть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DEDBA-8EF6-4A8E-9BA5-D2CD99D1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EBB19-EDE4-446F-B84C-D2D7C675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13A4A-7525-42E6-80D3-792F5E54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Узел FAC00012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E5088-E7B1-41AE-B807-40D46AC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16 доков  |  08:00–17:00  |  3 278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8B1D6-E8F2-4301-8773-9608B99A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49,1%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2817C-80E5-40F3-BCC7-B6CCEB22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прибытия вне часов работы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BD2BA-F116-424C-B6CE-BA281F00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95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BE26B-72FC-4BC8-836D-CBED7CF7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Три примера из сценария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CB9F7-4D26-462D-B843-6FDE8FE1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LOAD00064616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1186B-494D-4521-9611-B0CBE680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Рефрижератор, 03:45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70E81-F935-43B0-A9F6-A53ECA0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103 → 28 мин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ABC7D-080E-4D1A-BE20-B5E863E0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E1564-EEE6-4345-9D31-80A8CB11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38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3920B-CEE9-458C-9042-BA87F5CA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71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LOAD00064692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4623A-ED33-48E8-A675-9A444A0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Dry Van, 07:19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C2D4AA-671D-48F3-A5FC-0837496F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133 → 27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75F35-42D4-4BD6-A70D-4CD90272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FAC00043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68369-60E9-498D-A24E-0AC65435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2BF89-EB89-4173-91FD-C221205B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LOAD00064555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CF552-BE46-423F-925C-F937B22D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Приоритет Fast 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F7F35F-6CF0-4255-9A31-1A254322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386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102 → 10 мин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A1DDB-9BB5-4F7B-A81D-7C50D16F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−92 мин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B7FDE-7CEE-4D0A-AD5C-367E20A2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90674-0019-491E-A6CF-B706CEB6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Средний простой в окне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D54C0C-679B-4FB3-BA06-DC1EA79D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78,2 → 21,4 мин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97C9D-C18A-48E3-86C7-27258D7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−72,7%  |  910 мин сэкономлено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F3A28-D400-4EAA-806F-74FBEDDE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48275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$1 137,50 расчетного штрафа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890D7-BFA3-4862-B0F0-9825C200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Сценарный расчёт руководства, не результат производственного пилота. Экономия зависит от доступности хабов и принятых ставок.</a:t>
            </a:r>
          </a:p>
        </p:txBody>
      </p:sp>
    </p:spTree>
    <p:extLst>
      <p:ext uri="{BB962C8B-B14F-4D97-AF65-F5344CB8AC3E}">
        <p14:creationId xmlns:p14="http://schemas.microsoft.com/office/powerpoint/2010/main" val="18611400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BC47E-80E5-44FE-947D-0C6EA754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6F5B0-DFC0-4BCE-90BE-7E0D27D3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E6062-A278-43E6-B900-32D4C833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Филадельфия: связка дневного и круглосуточного хаба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04C53-A6C5-428C-BBB3-8412E676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F0BC8-2BC7-48EA-92B7-180728CA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C02D0-95DB-4062-B621-72F2750D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FAC00008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58E71-AEAE-4C28-A9EE-76D09F6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110 доков  |  08:00–17:00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5B924-E11F-4344-9975-F72A8972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47,9% прибытий вне часов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76632-7F92-4F3B-9C98-965DBDA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95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CC6C1-B965-4668-A2BA-FEE46923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FCD9F-75E0-48F3-9F16-53F6909E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144 дока  |  работает 24/7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3F5A2-9ED1-4F88-A799-5FF7F36F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6 870 событий в кластере из двух хабов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F2415-0F64-4F4E-B520-1739DEA3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6CBAC-6DD0-4DB2-8AFB-2BEB34CA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Примеры маршрута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48181-1444-48BD-BC2B-36ACBC22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05:51  рефрижератор: 72 → 24 мин на FAC00027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19BFF-375B-4529-A848-5061C3BC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10:48  Dedicated Fast Track: 148 → 10 мин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4FEEF-BF39-4DD1-B49A-7C943B69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95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215DF-0014-4A49-8B0D-BDDFC939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Средний простой FAC00008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5AF1A-CDCC-4BE8-807F-610D129C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100,9 → 18,3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3B314-7339-4D34-95C5-C6BD730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−81,9%  |  1 322 мин  |  $1 652,50 за окно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7382C-4422-4D4A-B2DC-7AC502A3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Сценарный расчёт руководства, не результат производственного пилота. Денежная оценка зависит от принятых ставок.</a:t>
            </a:r>
          </a:p>
        </p:txBody>
      </p:sp>
    </p:spTree>
    <p:extLst>
      <p:ext uri="{BB962C8B-B14F-4D97-AF65-F5344CB8AC3E}">
        <p14:creationId xmlns:p14="http://schemas.microsoft.com/office/powerpoint/2010/main" val="8337297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DF927-E52C-48B2-BF51-E65E598A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64469-7D1C-41DB-84BB-C806F6BA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0ED7E-3975-4964-9EB7-33CB517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Сэкономленные минуты переводятся в стоимость и выбросы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E51E-5F3F-4DF0-A544-9F5A3670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9D358-0C94-4DE3-8B23-60ED74C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3CA79-EFA9-4BFB-BD8F-5A82E9F0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ΔDtotal = Σ max(0, Dᵢbefore − Dᵢafter)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BD725-20F8-4F82-920C-BEB30C21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Суммарное сокращение простоя по всем рейсам, минуты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B7D09-1163-4801-9295-F31A3A43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F6FDC-7D64-4350-8F49-32B4609E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$1,25 × ΔD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F4845-E536-439F-995F-6C93A752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экономия на ставке $75/час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1B7B9-D58F-46EC-AD8B-395E3E6B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3358C-66B4-42F9-BB69-9DB072BC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623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0,85 × ΔD/60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A3BDC-CCAC-481D-A827-77B3931A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сэкономленные галлоны дизеля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38CC1-5931-4398-8CC4-223F91A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B98DB-1874-47F1-8357-3668456A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623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10,18 × Fuel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11141-7D11-48FA-BD70-291A3CD0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кг CO₂ на галлон дизеля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0513A-D8F5-433B-B639-B44E139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5BAB5-C529-42F9-AA66-60C50546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KPI — оценка по заданным коэффициентам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C0B54-8213-4E43-AE7D-BCE3DAFD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Финансовый эффект и CO₂ не измеряются напрямую. В проекте это расчётные значения, а не подтверждённая экономия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20789130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A9225-913D-4DDB-B1E1-4841F41F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48C2F-0B51-43F7-872C-6DDB0644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9F3CE-9E84-4763-ABBA-E5960CB9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54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Control Tower объединяет карту сети и рабочее место диспетчера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429C4-B256-40CF-B104-8856CB8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0E1E0-FF8B-4430-BB1A-609475A6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2284E-C0D6-416E-BAAE-8516D022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Сводка сети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439A4-4CA7-42A5-BC65-5449607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95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Очередь склада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3788C-FFF3-48AF-9EB1-AF0E61BA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Диалог с агентом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DF26B-40F2-4DE5-A139-FD4FC115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038C6-6725-422B-90FA-58601FAE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DEA32-AD08-4233-9B81-F1915FD5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50 объектов сети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средний простой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своевременность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узкие места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4246C-94CA-49AC-B191-54176364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Выбор склада по режиму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 текущим показателям.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E1BD8-B52B-4863-B7E7-A71DB744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почасовой профиль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бригад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таблица рейсов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фильтры по риску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BD0F9-F7F8-45C6-A757-07DDB43B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38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Результат с назначенным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слотом и доком.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93AAB-B856-428E-A6BE-7360256D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47900"/>
            <a:ext cx="328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запрос обычным языком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вызов инструментов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автономный режим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Gemini / OpenAI / Ollama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CA842-026E-458D-9AE9-258C4C4A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386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Ответ синхронизирует выбранный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 и снимок оптимизации.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CB66E-2727-424C-9789-C353EF43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D478F-FB39-4A19-8A70-8F94B6BE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API: /api/overview  •  /api/optimize  •  /api/predict  •  /api/agent/chat</a:t>
            </a:r>
          </a:p>
        </p:txBody>
      </p:sp>
    </p:spTree>
    <p:extLst>
      <p:ext uri="{BB962C8B-B14F-4D97-AF65-F5344CB8AC3E}">
        <p14:creationId xmlns:p14="http://schemas.microsoft.com/office/powerpoint/2010/main" val="14619843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8623B-BB1F-4A5A-9BE4-6012FBB7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AF7A0-DA13-48A7-A8A3-D6B03C5A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QUEUE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18866-FA4F-47F8-AFAD-16C2A51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54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Эффект показан как сценарий модели, а не как результат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BC5B8-41A1-40AC-A3CA-553BAFF8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BD47E-82B7-49B7-B79D-473B0A8E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1D265-E545-4AD2-AF73-517AF21E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Что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13561-B1AA-420D-8266-2A9C3A5E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и агрегация истории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скоринг рейсов и расписание доков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прогноз времени простоя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перенаправление в городской хаб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веб-дашборд и чат агента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F4543-5343-48CE-81B2-C8E8AE49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95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6D290-B634-4441-8976-31EFE9F9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Что нужно проверить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3DD17-F8A1-4E07-A1FA-AE15224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качество прогноза на holdout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фактическое время обработки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пропускную способность смен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доступность партнёрских хабов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стоимость ожидания для бизнеса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D7880-A667-4D48-8234-1F9690AD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1A658-6ED5-463C-B9FE-B686BB31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Рекомендуемый следующий этап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4D6CC-B32A-4FE7-AC7C-D59D11F9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Пилот на одном складе: сравнить baseline и рекомендации на одинаковых днях, согласовать ограничения и зафиксировать целевые метрики.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F6539-AADD-4B4B-9CA5-B02DC5AB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Экономия в интерфейсе рассчитывается по условным ставкам ($75/час ожидания и расход топлива на холостом ходу).</a:t>
            </a:r>
          </a:p>
        </p:txBody>
      </p:sp>
    </p:spTree>
    <p:extLst>
      <p:ext uri="{BB962C8B-B14F-4D97-AF65-F5344CB8AC3E}">
        <p14:creationId xmlns:p14="http://schemas.microsoft.com/office/powerpoint/2010/main" val="480572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2026-10-24T09:50:38.6040000Z</dcterms:created>
  <dcterms:modified xsi:type="dcterms:W3CDTF">2026-10-24T09:50:38.6040000Z</dcterms:modified>
</coreProperties>
</file>