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e543460a6a4e30" /><Relationship Type="http://schemas.openxmlformats.org/officeDocument/2006/relationships/extended-properties" Target="/docProps/app.xml" Id="Ra9b60dbad94848f1" /><Relationship Type="http://schemas.openxmlformats.org/officeDocument/2006/relationships/officeDocument" Target="/ppt/presentation.xml" Id="R292e3da210154c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a0820c72854391"/>
  </p:sldMasterIdLst>
  <p:notesMasterIdLst>
    <p:notesMasterId xmlns:r="http://schemas.openxmlformats.org/officeDocument/2006/relationships" r:id="R523c05165b624af8"/>
  </p:notesMasterIdLst>
  <p:sldIdLst>
    <p:sldId xmlns:r="http://schemas.openxmlformats.org/officeDocument/2006/relationships" id="256" r:id="R47d0a9f3ac8a4dcf"/>
    <p:sldId xmlns:r="http://schemas.openxmlformats.org/officeDocument/2006/relationships" id="257" r:id="R814cefef096744ad"/>
    <p:sldId xmlns:r="http://schemas.openxmlformats.org/officeDocument/2006/relationships" id="258" r:id="R215f590f594f4c76"/>
    <p:sldId xmlns:r="http://schemas.openxmlformats.org/officeDocument/2006/relationships" id="259" r:id="R5807d79ff88941dd"/>
    <p:sldId xmlns:r="http://schemas.openxmlformats.org/officeDocument/2006/relationships" id="260" r:id="Rd6ee73596c1b4b3a"/>
    <p:sldId xmlns:r="http://schemas.openxmlformats.org/officeDocument/2006/relationships" id="261" r:id="R065b3ac60af24d64"/>
    <p:sldId xmlns:r="http://schemas.openxmlformats.org/officeDocument/2006/relationships" id="262" r:id="Rf5b334876f7e4ff0"/>
    <p:sldId xmlns:r="http://schemas.openxmlformats.org/officeDocument/2006/relationships" id="263" r:id="R8bd50a6b18574e9b"/>
    <p:sldId xmlns:r="http://schemas.openxmlformats.org/officeDocument/2006/relationships" id="264" r:id="Rb42981b47643412e"/>
    <p:sldId xmlns:r="http://schemas.openxmlformats.org/officeDocument/2006/relationships" id="265" r:id="R1f09aec9873347cf"/>
    <p:sldId xmlns:r="http://schemas.openxmlformats.org/officeDocument/2006/relationships" id="266" r:id="Rf15e98b31d5e466e"/>
    <p:sldId xmlns:r="http://schemas.openxmlformats.org/officeDocument/2006/relationships" id="267" r:id="R78b2a39aa50f4c5f"/>
    <p:sldId xmlns:r="http://schemas.openxmlformats.org/officeDocument/2006/relationships" id="268" r:id="R3f4c5fee9f7740d9"/>
    <p:sldId xmlns:r="http://schemas.openxmlformats.org/officeDocument/2006/relationships" id="269" r:id="Re53350ee60b84792"/>
    <p:sldId xmlns:r="http://schemas.openxmlformats.org/officeDocument/2006/relationships" id="270" r:id="Rcb17f2cf3b1f4b75"/>
    <p:sldId xmlns:r="http://schemas.openxmlformats.org/officeDocument/2006/relationships" id="271" r:id="R73f8b48b88d444d9"/>
    <p:sldId xmlns:r="http://schemas.openxmlformats.org/officeDocument/2006/relationships" id="272" r:id="R555b4b264a524100"/>
    <p:sldId xmlns:r="http://schemas.openxmlformats.org/officeDocument/2006/relationships" id="273" r:id="Ra06499855ef94c6d"/>
    <p:sldId xmlns:r="http://schemas.openxmlformats.org/officeDocument/2006/relationships" id="274" r:id="R8b6306d0f24348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0201c8280d48ab" /><Relationship Type="http://schemas.openxmlformats.org/officeDocument/2006/relationships/slideMaster" Target="/ppt/slideMasters/slideMaster1.xml" Id="R7ea0820c72854391" /><Relationship Type="http://schemas.openxmlformats.org/officeDocument/2006/relationships/notesMaster" Target="/ppt/notesMasters/notesMaster1.xml" Id="R523c05165b624af8" /><Relationship Type="http://schemas.openxmlformats.org/officeDocument/2006/relationships/presProps" Target="/ppt/presProps.xml" Id="R698a35252a304357" /><Relationship Type="http://schemas.openxmlformats.org/officeDocument/2006/relationships/tableStyles" Target="/ppt/tableStyles.xml" Id="R3cfe98b2316a44c7" /><Relationship Type="http://schemas.openxmlformats.org/officeDocument/2006/relationships/slide" Target="/ppt/slides/slide1.xml" Id="R47d0a9f3ac8a4dcf" /><Relationship Type="http://schemas.openxmlformats.org/officeDocument/2006/relationships/slide" Target="/ppt/slides/slide2.xml" Id="R814cefef096744ad" /><Relationship Type="http://schemas.openxmlformats.org/officeDocument/2006/relationships/slide" Target="/ppt/slides/slide3.xml" Id="R215f590f594f4c76" /><Relationship Type="http://schemas.openxmlformats.org/officeDocument/2006/relationships/slide" Target="/ppt/slides/slide4.xml" Id="R5807d79ff88941dd" /><Relationship Type="http://schemas.openxmlformats.org/officeDocument/2006/relationships/slide" Target="/ppt/slides/slide5.xml" Id="Rd6ee73596c1b4b3a" /><Relationship Type="http://schemas.openxmlformats.org/officeDocument/2006/relationships/slide" Target="/ppt/slides/slide6.xml" Id="R065b3ac60af24d64" /><Relationship Type="http://schemas.openxmlformats.org/officeDocument/2006/relationships/slide" Target="/ppt/slides/slide7.xml" Id="Rf5b334876f7e4ff0" /><Relationship Type="http://schemas.openxmlformats.org/officeDocument/2006/relationships/slide" Target="/ppt/slides/slide8.xml" Id="R8bd50a6b18574e9b" /><Relationship Type="http://schemas.openxmlformats.org/officeDocument/2006/relationships/slide" Target="/ppt/slides/slide9.xml" Id="Rb42981b47643412e" /><Relationship Type="http://schemas.openxmlformats.org/officeDocument/2006/relationships/slide" Target="/ppt/slides/slide10.xml" Id="R1f09aec9873347cf" /><Relationship Type="http://schemas.openxmlformats.org/officeDocument/2006/relationships/slide" Target="/ppt/slides/slide11.xml" Id="Rf15e98b31d5e466e" /><Relationship Type="http://schemas.openxmlformats.org/officeDocument/2006/relationships/slide" Target="/ppt/slides/slide12.xml" Id="R78b2a39aa50f4c5f" /><Relationship Type="http://schemas.openxmlformats.org/officeDocument/2006/relationships/slide" Target="/ppt/slides/slide13.xml" Id="R3f4c5fee9f7740d9" /><Relationship Type="http://schemas.openxmlformats.org/officeDocument/2006/relationships/slide" Target="/ppt/slides/slide14.xml" Id="Re53350ee60b84792" /><Relationship Type="http://schemas.openxmlformats.org/officeDocument/2006/relationships/slide" Target="/ppt/slides/slide15.xml" Id="Rcb17f2cf3b1f4b75" /><Relationship Type="http://schemas.openxmlformats.org/officeDocument/2006/relationships/slide" Target="/ppt/slides/slide16.xml" Id="R73f8b48b88d444d9" /><Relationship Type="http://schemas.openxmlformats.org/officeDocument/2006/relationships/slide" Target="/ppt/slides/slide17.xml" Id="R555b4b264a524100" /><Relationship Type="http://schemas.openxmlformats.org/officeDocument/2006/relationships/slide" Target="/ppt/slides/slide18.xml" Id="Ra06499855ef94c6d" /><Relationship Type="http://schemas.openxmlformats.org/officeDocument/2006/relationships/slide" Target="/ppt/slides/slide19.xml" Id="R8b6306d0f24348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eef44562424f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bb04330faf43b3" /><Relationship Type="http://schemas.openxmlformats.org/officeDocument/2006/relationships/notesMaster" Target="/ppt/notesMasters/notesMaster1.xml" Id="R7878a51e7ac847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5f8334f4744e05" /><Relationship Type="http://schemas.openxmlformats.org/officeDocument/2006/relationships/notesMaster" Target="/ppt/notesMasters/notesMaster1.xml" Id="Rd6abd43b866c46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9d87f718184410" /><Relationship Type="http://schemas.openxmlformats.org/officeDocument/2006/relationships/notesMaster" Target="/ppt/notesMasters/notesMaster1.xml" Id="Re14c2215fc76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f41d59c667476b" /><Relationship Type="http://schemas.openxmlformats.org/officeDocument/2006/relationships/notesMaster" Target="/ppt/notesMasters/notesMaster1.xml" Id="Rbcda25d13aa645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3056b63f844429" /><Relationship Type="http://schemas.openxmlformats.org/officeDocument/2006/relationships/notesMaster" Target="/ppt/notesMasters/notesMaster1.xml" Id="R2ceda5db4fde49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f925fba3248d7" /><Relationship Type="http://schemas.openxmlformats.org/officeDocument/2006/relationships/notesMaster" Target="/ppt/notesMasters/notesMaster1.xml" Id="Raf8f8eece27447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b4ec288454068" /><Relationship Type="http://schemas.openxmlformats.org/officeDocument/2006/relationships/notesMaster" Target="/ppt/notesMasters/notesMaster1.xml" Id="Ref7bb0cac03f41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ad4a725e1a4fb2" /><Relationship Type="http://schemas.openxmlformats.org/officeDocument/2006/relationships/notesMaster" Target="/ppt/notesMasters/notesMaster1.xml" Id="R8ae81d0e7d1845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a00bca07e645b1" /><Relationship Type="http://schemas.openxmlformats.org/officeDocument/2006/relationships/notesMaster" Target="/ppt/notesMasters/notesMaster1.xml" Id="Rfa1b8e3f24d745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e286e77bc04537" /><Relationship Type="http://schemas.openxmlformats.org/officeDocument/2006/relationships/notesMaster" Target="/ppt/notesMasters/notesMaster1.xml" Id="R606b27133d6045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c64f21e2b94cf4" /><Relationship Type="http://schemas.openxmlformats.org/officeDocument/2006/relationships/notesMaster" Target="/ppt/notesMasters/notesMaster1.xml" Id="Rc9a038aefb7c47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a95a988afe4d40" /><Relationship Type="http://schemas.openxmlformats.org/officeDocument/2006/relationships/notesMaster" Target="/ppt/notesMasters/notesMaster1.xml" Id="R7f1a656a11ab45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d5547d76994f1a" /><Relationship Type="http://schemas.openxmlformats.org/officeDocument/2006/relationships/notesMaster" Target="/ppt/notesMasters/notesMaster1.xml" Id="Rc08aa9eed3b1458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cb0e8ac59d4727" /><Relationship Type="http://schemas.openxmlformats.org/officeDocument/2006/relationships/notesMaster" Target="/ppt/notesMasters/notesMaster1.xml" Id="Rdfb538160fc64c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9a3d6a153f048dd" /><Relationship Type="http://schemas.openxmlformats.org/officeDocument/2006/relationships/notesMaster" Target="/ppt/notesMasters/notesMaster1.xml" Id="Rf6f8102afce341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63f3ebf7ca4d48" /><Relationship Type="http://schemas.openxmlformats.org/officeDocument/2006/relationships/notesMaster" Target="/ppt/notesMasters/notesMaster1.xml" Id="R7cb26ce7c16b43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b6db4d18c64226" /><Relationship Type="http://schemas.openxmlformats.org/officeDocument/2006/relationships/notesMaster" Target="/ppt/notesMasters/notesMaster1.xml" Id="Re64883ce63ac41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76794b5b42a4db4" /><Relationship Type="http://schemas.openxmlformats.org/officeDocument/2006/relationships/notesMaster" Target="/ppt/notesMasters/notesMaster1.xml" Id="R0f98200b53e443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40afc841c2d484e" /><Relationship Type="http://schemas.openxmlformats.org/officeDocument/2006/relationships/notesMaster" Target="/ppt/notesMasters/notesMaster1.xml" Id="R6b023be6003f4e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backend/main.py;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ATA Economics 2024;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backend/data_loader.py;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backend/data_loader.py.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backend/ml_predictor.py.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Руководство_AI_Агент_Логистика.pdf;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backend/queue_optimizer.py.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frontend/index.html; frontend/app.js; backend/main.py.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Основание: README.md; Руководство_AI_Агент_Логистика.pdf.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557ed17624f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216555c854c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c77cb660d4b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3ad116653949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5dbfb281241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80fd09d4544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7A10A1-AADD-4F95-845B-72763478E1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A1A9B6-277C-4AE4-ADB8-7B6F5F0A75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834B6F-59AA-469C-8B43-2A06CBB0D1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D30EE-6DF5-4576-92AE-B3BEF5C3C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3032DAD-7BF2-4E4A-82D3-E6EC212983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0F44D8-F8D9-4863-9999-C3889E479C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F1C9A0-3837-4EC4-A143-E6F117D26A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733159-055A-4E45-AB97-52BD1FD557B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18202F-6FF3-49D5-82FF-E9481BFCA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8FC44D-85A9-4B4F-B9E3-B49242E4E3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23bb2bb91c4591" /><Relationship Type="http://schemas.openxmlformats.org/officeDocument/2006/relationships/slideLayout" Target="/ppt/slideLayouts/slideLayout1.xml" Id="R2fa3f472101f468e" /><Relationship Type="http://schemas.openxmlformats.org/officeDocument/2006/relationships/slideLayout" Target="/ppt/slideLayouts/slideLayout2.xml" Id="R48ba8c47b0f242a9" /><Relationship Type="http://schemas.openxmlformats.org/officeDocument/2006/relationships/slideLayout" Target="/ppt/slideLayouts/slideLayout3.xml" Id="Re194b095c0204a4a" /><Relationship Type="http://schemas.openxmlformats.org/officeDocument/2006/relationships/slideLayout" Target="/ppt/slideLayouts/slideLayout4.xml" Id="Rda5a8e7c035e48c0" /><Relationship Type="http://schemas.openxmlformats.org/officeDocument/2006/relationships/slideLayout" Target="/ppt/slideLayouts/slideLayout5.xml" Id="Rd988c88783b343ae" /><Relationship Type="http://schemas.openxmlformats.org/officeDocument/2006/relationships/slideLayout" Target="/ppt/slideLayouts/slideLayout6.xml" Id="R148028a6be7243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3f472101f468e"/>
    <p:sldLayoutId xmlns:r="http://schemas.openxmlformats.org/officeDocument/2006/relationships" id="2147483650" r:id="R48ba8c47b0f242a9"/>
    <p:sldLayoutId xmlns:r="http://schemas.openxmlformats.org/officeDocument/2006/relationships" id="2147483651" r:id="Re194b095c0204a4a"/>
    <p:sldLayoutId xmlns:r="http://schemas.openxmlformats.org/officeDocument/2006/relationships" id="2147483652" r:id="Rda5a8e7c035e48c0"/>
    <p:sldLayoutId xmlns:r="http://schemas.openxmlformats.org/officeDocument/2006/relationships" id="2147483653" r:id="Rd988c88783b343ae"/>
    <p:sldLayoutId xmlns:r="http://schemas.openxmlformats.org/officeDocument/2006/relationships" id="2147483654" r:id="R148028a6be7243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bcc526e08b4d47" /><Relationship Type="http://schemas.openxmlformats.org/officeDocument/2006/relationships/notesSlide" Target="/ppt/notesSlides/notesSlide1.xml" Id="R0623f5b147aa42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a5a6e4e7841cd" /><Relationship Type="http://schemas.openxmlformats.org/officeDocument/2006/relationships/notesSlide" Target="/ppt/notesSlides/notesSlide2.xml" Id="Rb406e639cd72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e7bc08f8340b9" /><Relationship Type="http://schemas.openxmlformats.org/officeDocument/2006/relationships/notesSlide" Target="/ppt/notesSlides/notesSlide3.xml" Id="Ra0e8d0af22eb42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1e459d74d54d1c" /><Relationship Type="http://schemas.openxmlformats.org/officeDocument/2006/relationships/notesSlide" Target="/ppt/notesSlides/notesSlide4.xml" Id="R82fde841a80745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fe3558d115424b" /><Relationship Type="http://schemas.openxmlformats.org/officeDocument/2006/relationships/notesSlide" Target="/ppt/notesSlides/notesSlide5.xml" Id="Rce86115667d044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d4f5ae32394352" /><Relationship Type="http://schemas.openxmlformats.org/officeDocument/2006/relationships/notesSlide" Target="/ppt/notesSlides/notesSlide6.xml" Id="R890a7ac6501640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fbb961a35149ce" /><Relationship Type="http://schemas.openxmlformats.org/officeDocument/2006/relationships/notesSlide" Target="/ppt/notesSlides/notesSlide7.xml" Id="R7b89b529f395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e7f439a1d4057" /><Relationship Type="http://schemas.openxmlformats.org/officeDocument/2006/relationships/notesSlide" Target="/ppt/notesSlides/notesSlide8.xml" Id="Re4ce674f3c1c43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e20e864a964264" /><Relationship Type="http://schemas.openxmlformats.org/officeDocument/2006/relationships/notesSlide" Target="/ppt/notesSlides/notesSlide9.xml" Id="Rd4e04ee817af4b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db4104c7c43a1" /><Relationship Type="http://schemas.openxmlformats.org/officeDocument/2006/relationships/notesSlide" Target="/ppt/notesSlides/notesSlide10.xml" Id="R7e90e66adb9543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22638e811468e" /><Relationship Type="http://schemas.openxmlformats.org/officeDocument/2006/relationships/notesSlide" Target="/ppt/notesSlides/notesSlide11.xml" Id="R16cb959425bb4d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c18696c05f4a94" /><Relationship Type="http://schemas.openxmlformats.org/officeDocument/2006/relationships/notesSlide" Target="/ppt/notesSlides/notesSlide12.xml" Id="R6ffcb36b7fb840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127a67a43f46ff" /><Relationship Type="http://schemas.openxmlformats.org/officeDocument/2006/relationships/notesSlide" Target="/ppt/notesSlides/notesSlide13.xml" Id="R9fa682b21aa54e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f0d37a5564183" /><Relationship Type="http://schemas.openxmlformats.org/officeDocument/2006/relationships/notesSlide" Target="/ppt/notesSlides/notesSlide14.xml" Id="Rfe336c93c8694d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5954fb3244fe2" /><Relationship Type="http://schemas.openxmlformats.org/officeDocument/2006/relationships/notesSlide" Target="/ppt/notesSlides/notesSlide15.xml" Id="R1ca3acfa9b9844f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4f2e151a34931" /><Relationship Type="http://schemas.openxmlformats.org/officeDocument/2006/relationships/notesSlide" Target="/ppt/notesSlides/notesSlide16.xml" Id="Rc351dd9c966248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3f585e7f0847b2" /><Relationship Type="http://schemas.openxmlformats.org/officeDocument/2006/relationships/notesSlide" Target="/ppt/notesSlides/notesSlide17.xml" Id="R78c21ebdadaa4c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983aa913b491e" /><Relationship Type="http://schemas.openxmlformats.org/officeDocument/2006/relationships/notesSlide" Target="/ppt/notesSlides/notesSlide18.xml" Id="Rb74213ed5c9c42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b2901c89ad4872" /><Relationship Type="http://schemas.openxmlformats.org/officeDocument/2006/relationships/notesSlide" Target="/ppt/notesSlides/notesSlide19.xml" Id="R2a06ef37ee5740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51415-2D65-4FD6-94A4-2FD8DE29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89549-7974-40D5-B520-88B4A80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0"/>
            <a:ext cx="395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68EB2-B4CA-439E-857E-04C323C9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906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5B804-280B-40DD-AD2B-1AF6973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620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07D92-26CA-4400-BED1-94974A2C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193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9D4C2-3F10-48CA-B87E-74EB17E3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1907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19050">
            <a:solidFill>
              <a:srgbClr val="39C6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1B982-FF23-4AD2-9983-1AD259C7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9EDA0-1FA0-4091-835E-508C210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194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C8F84-894E-4CDD-9212-9349E4D4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247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493FE-76C8-486F-8FB3-72A5C811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48150"/>
            <a:ext cx="323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338"/>
          </a:solidFill>
          <a:ln xmlns:a="http://schemas.openxmlformats.org/drawingml/2006/main" w="19050">
            <a:solidFill>
              <a:srgbClr val="7181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90024-B64C-4FA9-970B-F107B684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28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345AD-6BB0-4AC4-8E23-9A6E25C3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LOGISTICS CONTROL TOWER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D5B75C-E439-4DEE-9851-B2DF4A6D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7334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AI-агент управления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6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логистическими очередями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C4593-2A56-41AC-9CA7-649869E6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Интеллектуальное распределение тайм-слотов, приоритетов доков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 межскладская балансировка на базе ML и теории очередей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B2B13-56EA-44BC-95AA-EAB75208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101C9-BEDA-43C4-A903-88556A1C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Полнофункциональный веб-дашборд диспетчера и аналитическое ядро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28D5A-B1C0-4B37-B328-C57D32C1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FastAPI  |  HistGradientBoosting ML  |  G/G/c &amp; Gamma  |  Control Tower UI</a:t>
            </a:r>
          </a:p>
        </p:txBody>
      </p:sp>
    </p:spTree>
    <p:extLst>
      <p:ext uri="{BB962C8B-B14F-4D97-AF65-F5344CB8AC3E}">
        <p14:creationId xmlns:p14="http://schemas.microsoft.com/office/powerpoint/2010/main" val="10775417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3A9019D-834A-4EF6-A4C8-80881145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2E076-F510-4AF2-9A11-FC07228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ВВЕДЕНИЕ В ПРОБЛЕМУ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5947C-E639-40FF-874D-DEAFAB8A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Парадокс последних 100 метров: трасса быстрая, ворота стоят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5E6ED-8E25-41B2-8D87-36EE7CCE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20EA0-78D6-4DC1-9693-8B4F8F33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76BD-763B-4F74-8A6E-B0443953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На магистрали фура идёт 100 км/ч, но у ворот склада теряет до 4 часов (239 мин) в живой очереди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F517C-6245-4AFE-8AAC-9FD063C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098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8DBF9-0185-42EA-B7FA-B316DE11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955D5-09D2-4799-8255-809B70DD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72,7% грузов США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9A595-E0AC-4979-9140-DB13CC65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$906 млрд выручки и 11,27 млрд тонн зависят от точности работы складских доков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6CC88-2A0F-4865-B67F-1A0D6221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6098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A5082-C2AB-478D-9EA3-E5B75ED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DF03B-5E8F-42DD-B12C-E61DDB38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260 607 часов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248B9-CC49-4B0B-9CBC-8CD61408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5270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суммарного простоя фур накоплено в датасете сети (эквивалент 30 лет ожидания)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5CC75-2B53-45DB-B5D9-9580A830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26098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E6438-0618-4E98-AE2A-E1A910BA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E4E59-2179-4938-B431-B282F15E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14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44,3% срывов SLA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0F5EC-1E3E-4FEE-96ED-FBBBE4CE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почти каждая вторая поставка выбивается из графика из-за заторов на терминалах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BD4BD-5252-49B7-9FFD-6B453782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6098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4D920-C008-44D5-899A-4615ABAE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20AB0-684A-4981-81CB-25A0C51A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91,5 мин на рейс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016BC-95F7-4D64-8A4E-F362BB32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2305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 время ожидания фуры с включённым двигателем перед швартовкой к доку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790DE-FEF6-4191-BA49-07D239C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Где именно рвётся логистическая цепочка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C57374-A0AE-41CF-A827-CAB2F26A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54D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AD1387-CA01-4CFD-84EE-DEB00B0D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01 Завод / Поставщик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F2999-ACC0-4108-90F3-D1B26C34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Отгрузка по плану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926AD2-C369-4DCE-8B29-19B646B6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10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C7F0F-2D4B-4398-8369-DA9F1EF2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43425"/>
            <a:ext cx="952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F155A1-71EC-4A64-94DB-861E8350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087237-037C-41C4-821D-5B5C88E4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434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02 Магистраль (GPS)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D54C9C-385E-46FD-855D-A4BE06C4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29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Движение 65 миль/ч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CCDEC2-0CD4-44CE-ADC2-F8A7DFF0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10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418FF-9356-4EBB-A958-B404E1DA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43425"/>
            <a:ext cx="952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9628B3-6CED-4AA1-BE57-10831B7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291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21E"/>
          </a:solidFill>
          <a:ln xmlns:a="http://schemas.openxmlformats.org/drawingml/2006/main" w="19050">
            <a:solidFill>
              <a:srgbClr val="FA718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E3114-5549-44AB-8DCE-5E208475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434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03 Ворота РЦ (Шлагбаум)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66A55-8ECA-4C1C-81FA-7BED77ED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25"/>
          </a:bodyPr>
          <a:lstStyle xmlns:a="http://schemas.openxmlformats.org/drawingml/2006/main">
            <a:def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КОЛЛАПС: 91–239 мин ожидания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05EE04-87ED-4935-BA3A-270A0030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15C506-9105-4E8D-A7B9-7DF31B8C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43425"/>
            <a:ext cx="95250" cy="1333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7181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9C5FD0-B0AA-4EAA-87B0-79C7C6DA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29100"/>
            <a:ext cx="2305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5A1CB7-C32A-4DFE-A7D7-1054D96D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04 Клиент / Ритейл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18037-47E6-42C3-9D1D-F5CEBA3B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Штрафы и пустые полки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1068DA-E50F-4B20-8E07-6D906ED1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1001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1A06E0-9E8A-4103-AA40-BAA37626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505865-4A41-40A8-A624-56A533E6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Цена каждого часа простоя у закрытых ворот: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BD574-38E4-47A4-93EF-3A81F121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43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Прямой штраф перевозчику ($75/час) + сжигание 0,85 галлона дизеля/час на холостом ходу + риск разморозки рефрижераторов (Refrigerated) и потеря контрактов Dedicated.</a:t>
            </a:r>
          </a:p>
        </p:txBody>
      </p:sp>
    </p:spTree>
    <p:extLst>
      <p:ext uri="{BB962C8B-B14F-4D97-AF65-F5344CB8AC3E}">
        <p14:creationId xmlns:p14="http://schemas.microsoft.com/office/powerpoint/2010/main" val="3511955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EAC6C1-BDA6-476A-9F81-CAA86869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A5003-20AD-4288-A5F6-CB203420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ВВЕДЕНИЕ В ПРОБЛЕМУ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D4F77-BA2D-4EAE-8ED8-8F097394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Анатомия затора: 4 причины коллапса живой очереди (FIFO)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424D3-F8CC-4963-A2C2-4132E278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595C8-F26A-4571-A0FF-B95A4B6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E2912-3A90-436D-9B09-6278A6C3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Анализ 170 820 реальных событий доставки показал, что очереди создаются не нехваткой асфальта, а слепым планированием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784D0-CDB5-4FB9-9B70-6A7063FE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6098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98156-1B5A-4E6E-A080-27D8280E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260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EE23B-87FA-485C-BA98-5F118ED4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35437-832F-457C-8C38-949B4111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0764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До 49,1% фур вне смены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4C2BD-2198-4BA1-AAEC-659E0E7D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Приезд к закрытым воротам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D929E-4ACF-4E84-B111-0EA6E662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63EDA-AF7D-4129-8A6B-C86A1FA3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Склад работает 08:00–17:00, но фура приезжает в 03:45 ночи и спит у шлагбаума до утра, создавая пробку к открытию.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7B755-30B2-4619-8D75-9C7806A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66900"/>
            <a:ext cx="26098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3A707-A960-49FF-AAA4-C56D4B37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66900"/>
            <a:ext cx="260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6273E-5391-4666-A3BC-4099CA93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36E89-F5F4-427B-BB5A-2B0E8743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0764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Рефрижератор ждёт за Spot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804AB-ACE7-47EB-87E7-0219980B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Ловушка FIFO для скоропорта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F14FA-060E-4B4E-AD3D-B2914A0D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5464D-CEEB-4EA2-86FE-BEEBC470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Живая очередь обслуживает машины по порядку приезда: срочный рефрижератор Dedicated теряет 2 часа за несрочным сухогрузом.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4CA524-A550-4E5E-8AFA-88B13D3D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26098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4BBA0-3E95-43D0-9551-D9B515F0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260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46188-8B5B-448F-AFA8-24231F7A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38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911EA-BAAE-41F3-AC7C-EE2C9DF9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764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Дефицит активных бригад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6B18B-14C0-4C61-98F3-5D0ADE1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33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Иллюзия 100 ворот (c &lt;&lt; M)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E3FF4-7639-41D6-A56B-FBB0B6D6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099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ECE0A9-59D2-4E9C-A673-302305A2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 склада может быть 110 ворот, но в смене реально работают 4–6 бригад погрузчиков. Утренний пик мгновенно перегружает смену.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848E9-4521-4C4F-BD1F-86A6064F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260985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54FC9-794E-47DA-93BD-BFEA5B3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2609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8F973-7D3B-42FE-AC50-758426BB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383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BF1BB1-6DEC-4F7D-B605-01AECA7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764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842"/>
          </a:bodyPr>
          <a:lstStyle xmlns:a="http://schemas.openxmlformats.org/drawingml/2006/main">
            <a:def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Простой рядом с пустым хабом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456538-9B39-4372-A279-4BAEFFE8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574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55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Изоляция складов города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2FE57-3DF7-4003-9070-F3DF2A61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09900"/>
            <a:ext cx="226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43322-18AD-4DD6-8ACE-6C9525F0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62300"/>
            <a:ext cx="2266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 Атланте и Филадельфии дневной РЦ захлёбывается в очереди, пока в 15 минутах езды открыт круглосуточный хаб 24/7.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EEAA26-CA4A-4931-B8FB-6A12801C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1001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F67B2-7CE8-47AF-A450-307B84C5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25FD2A-87D1-495F-85E6-AF441E6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РЕШЕНИЕ — ИНТЕЛЛЕКТУАЛЬНЫЙ AI-АГЕНТ РЕГУЛИРОВАНИЯ ОЧЕРЕДЕЙ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5D6E82-240C-4DFF-AB20-2E006071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Вместо живой очереди агент объединяет 3 контура: (1) ML-прогноз простоя и подбор открытого слота, (2) волновую приоритизацию Fast-Track для рефрижераторов и SLA, (3) авто-перенаправление внеурочных фур в открытые хабы того же города.</a:t>
            </a:r>
          </a:p>
        </p:txBody>
      </p:sp>
    </p:spTree>
    <p:extLst>
      <p:ext uri="{BB962C8B-B14F-4D97-AF65-F5344CB8AC3E}">
        <p14:creationId xmlns:p14="http://schemas.microsoft.com/office/powerpoint/2010/main" val="14868408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C4315-1EEC-457E-B584-27560B4F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0B4A2-7D5E-4AE6-A9D4-B1AD832B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МАТЕМАТИЧЕСКАЯ МОДЕЛЬ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CB4FB-C7E5-4105-AAA6-E6D372D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Базовые метрики потока: опоздания и внеурочные прибытия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A2024-3CBA-4748-B4CF-C95AAEE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32800-A438-492D-BEAD-6BB33A7D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89EABA-206A-457A-9518-2BFFBA54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7ABF7-0A96-46B8-A4A6-71B27D13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05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35E71A-5A5A-4FF2-B0EA-07208EA5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терминалов и складов (facilities.csv)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DF969-B9A2-471C-8AA0-D11005DD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B2EFB-B8DD-43D2-82CB-BD693321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62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05"/>
          </a:bodyPr>
          <a:lstStyle xmlns:a="http://schemas.openxmlformats.org/drawingml/2006/main">
            <a:def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170 820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D855F-63A3-4B9E-8174-978FD6FA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1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событий погрузки и доставки (delivery_events.csv)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8652B6-061D-4A5D-B288-9BB023B3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66850"/>
            <a:ext cx="3524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0B3CC-AFA0-4ED3-BBA6-F42A60B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05"/>
          </a:bodyPr>
          <a:lstStyle xmlns:a="http://schemas.openxmlformats.org/drawingml/2006/main">
            <a:def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7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85 410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76EC9-8CDA-43D7-8B34-FB9C1062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грузов и рейсов (loads.csv, trips.csv)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9B134-F492-4280-B093-106BF35E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334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C4031-940E-4109-A0BF-461FD667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7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893110-8C12-4BBC-BA34-12366C3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1. Отклонение времени прибытия (в минутах)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A94B9-9A45-406A-AA8E-62733556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86150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Δt(i)  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56CEF0-B199-4C04-9D40-958C7DA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38500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t(act, i)  −  t(sched, i)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7216D-7120-40CF-B88F-FA282C3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5433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A35AF-3997-4EBB-A42D-E6CB9DFD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90925"/>
            <a:ext cx="323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60 секунд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AA9A5-765F-4A0F-AF2F-8D45372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BD4ED-C165-46CF-9107-14F2F255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4876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 t(act, i) — фактическое время прибытия фуры i к воротам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 t(sched, i) — плановое окно по расписанию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 При Δt(i) &gt; 0 фиксируется опоздание рейса на маршруте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FCBE7-3412-4ADD-AF97-B0810F83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53340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769C5-BE7E-4B27-8913-F8D52815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76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FD8C3B-209E-4F18-9A59-10A6CF7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90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2. Индикатор и доля внеурочных прибытий (OOH)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2B607-7333-4967-B20C-904508EF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194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I(OOH, i) = 1 ,  если час  h(i) ∉ [ H(open, f),  H(close, f) 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EE04F-A5EE-47D6-9229-5C8C8FB1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R(OOH, f)  =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55A8FB-1269-4D20-A47F-B5AB1F5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2809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Σ I(OOH, i)  по складу 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D6C141-2B5C-4534-921C-4CF0AC0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05250"/>
            <a:ext cx="2657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0EFAD1-A011-4027-8B20-9E98ACF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52875"/>
            <a:ext cx="2809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N(f)  (всего событий)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3F9FCA-B582-45F2-80E4-A77D16D1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8BAAC1-0CCC-48B1-8601-873E04D5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87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 датасете на складах с графиком 8AM–5PM доля R(OOH, f) достигает 48,4% — почти половина фур приезжает к закрытым воротам.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AA53C1-0509-4A88-90B2-9DF579E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197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Реализация в коде: модуль backend/data_loader.py (метод LogisticsDataStore.load_all).</a:t>
            </a:r>
          </a:p>
        </p:txBody>
      </p:sp>
    </p:spTree>
    <p:extLst>
      <p:ext uri="{BB962C8B-B14F-4D97-AF65-F5344CB8AC3E}">
        <p14:creationId xmlns:p14="http://schemas.microsoft.com/office/powerpoint/2010/main" val="1107389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42EAD9-6764-45BB-837C-F9901C6E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EB6B1-EB9A-4CC6-BF30-6ED428C3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МАТЕМАТИКА ДИАГНОСТИКИ СЕТИ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F4ADF-E920-41DD-A387-17D4E4B9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Индекс перегрузки объединяет простой, режим и плотность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483BB-BBFA-444C-9E05-53B476E0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C3CBD-94AA-443C-A320-50D5C8F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197A5-A5FE-4310-8964-9D22584C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Для ранжирования 50 складов вычисляется интегральный индекс перегрузки CI(f) по шкале от 0 до 100 баллов: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43D04-E187-4326-B4A8-C8ADCB0E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10013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DF773-23CB-4F63-A0D5-A1C83866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1F4BE-92E6-4682-9621-D2D46A5F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907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CI(f)  =  min 100 ,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9F5C-B6EE-4AB7-AF7D-D386CEDA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90775"/>
            <a:ext cx="61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45 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7AE2D-40E4-4B00-90F2-D54945DC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D(avg, f)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1E9E5-C2CE-4542-92EC-B127E3A0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428875"/>
            <a:ext cx="16097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74987-5929-409B-8F29-66E0D39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76500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120 мин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DCF77-AC52-42FB-8CBC-A85DAE5E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90775"/>
            <a:ext cx="3952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+   35 × R(OOH, f)   +   min 20 ,  8 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917FF-C796-4D7A-8AE1-CBEBAED9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336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N(f)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0EFBA-3A06-4DD3-BC70-00D12DE8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28875"/>
            <a:ext cx="1514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9513A-62AF-4DB9-8011-638362AD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100 × M(f)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F80B6-B852-4795-A26D-882688F2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524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AA4481-911B-4D8D-9C5B-7298524E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F08A3-4831-4585-AC71-17CAF68A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Слагаемое 1 (до 45 баллов)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6546FA-864D-4B5A-88CE-79CD544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Тяжесть исторического простоя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13225-10A8-4392-A864-936F61C7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181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Средний простой D(avg, f) нормируется на 2 часа (120 мин). Отражает хронические очереди внутри смены.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C95D4-0BBF-4460-BAE2-A03BC201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524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828FB6-9506-499A-8ABB-F1F800BC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004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F5AB23-1933-478B-8F1B-76C9A746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71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Слагаемое 2 (до 35 баллов)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368AA-8F12-4B1D-8A1C-9DFE0E74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Штраф за закрытые ворота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851B45-DDEE-418B-B976-76112CBE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9600"/>
            <a:ext cx="3181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Доля фур R(OOH, f), прибывающих вне часов работы склада (8AM–5PM, 7AM–7PM, 6AM–10PM).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3D817C-7448-4A1E-AE5F-F5D60566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524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6440E-263E-4C5C-8FE7-6E70DACA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3DED6F-53D0-4D50-AB5B-94D42431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Слагаемое 3 (до 20 баллов)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C0E639-9BD7-4592-AB28-9D11F2E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Плотность потока на 1 док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9E662E-F6F1-4908-8135-39BC2352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31813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Отношение общего числа рейсов N(f) к числу физических ворот M(f) (dock_doors). Выявляет малые перегруженные РЦ.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919842-E2A6-449F-9462-DE5D639C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0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Обозначения:  D(avg, f) — средний простой (мин)   |   R(OOH, f) — доля внеурочных прибытий   |   N(f) — число событий   |   M(f) — число ворот.</a:t>
            </a:r>
          </a:p>
        </p:txBody>
      </p:sp>
    </p:spTree>
    <p:extLst>
      <p:ext uri="{BB962C8B-B14F-4D97-AF65-F5344CB8AC3E}">
        <p14:creationId xmlns:p14="http://schemas.microsoft.com/office/powerpoint/2010/main" val="1830618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921B51-ADBE-40B5-B2C3-567AC8A7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08FF8-2A20-414B-9DF4-F6F7B5D7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МАТЕМАТИКА ПРИОРИТИЗАЦИИ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10B7D-832A-4CF7-A71A-9DDC471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Многофакторный скоринг приоритета ранжирует каждую фуру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57CAC-8020-4683-A556-132A3457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042D4-B776-4F33-B9F3-ECDE0124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BD9D-6559-4DA9-B115-218ED26E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013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F92B7-5ECA-4ABA-B2DA-84915315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76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515A1-8970-4007-BFB4-F21A59A3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Интегральная формула приоритета рейса i (диапазон от 15 до 99 баллов):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91350-81D1-4F02-8E1E-5F06E909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P(i)  =  clip [15, 99] (  W(cargo, i)   +   W(contract, i)   +   W(SLA, i)   +   W(value, i)  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3433B-6E9A-4DD3-98AC-74A9A1E2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Математическое задание весовых функций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16879-CD18-4ED2-932F-871CA28D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538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B2F1D-C7A3-47BE-9A86-B3AF9D1E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01EF92-FD0C-4A6E-B731-0D8830E5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W(cargo, 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B36D0-6827-4701-8D1E-C81865A9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124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+34 балла (Refrigerated)  |  +10 баллов (Dry Van)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98401-1551-426D-9E3F-CC6DED8A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 температурным грузам для защиты холодовой цепи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8DF21-17F5-42D3-A5F7-06224F1B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38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660BD-A5AD-460E-BC6A-3B136FF1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C2544-AE9E-4CD2-A09B-D119B6A6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W(contract, i)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4FA79D-96E3-413B-B7F4-77E6092F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29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+24 (Dedicated)  |  +16 (Contract)  |  +6 (Spot)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BF5888-7A7F-4636-BA50-A8E31185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Учёт жёсткости контрактных обязательств перед заказчиком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3EEAED-DDF7-445B-B31B-8742E35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538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7B6C5-124E-402C-8B7E-109450D1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1CBF40-070B-410E-A438-EE49D079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W(SLA, i)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34D3D7-F128-4EF3-BF83-8AE036CF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339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min( 26 ,  18 × D(raw) / 220  +  8 × Δt(delay) / 180 )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68669-1E20-4978-BFE2-515F8862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Динамический рост приоритета по мере накопления задержки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7C9F4-61AD-4834-8073-D593671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5381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335B4-E4C3-4502-9740-9C40D52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7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4C7159-ED12-4072-9DAA-60F9DBB6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W(value, i)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A3D03C-1D17-49F9-BB68-4A63530A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3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min( 16 ,  10 × Revenue / 8000  +  6 × Weight / 45000 )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3D004E-A65A-43A5-B6F1-225BA0C3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509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Учёт стоимости фрахта ($) и тоннажа фуры (weight_lbs)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094EA5-CF14-4B36-BC4A-7EFC3DC5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Классы обслуживания по порогам P(i)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C7297-96AB-4051-A078-1327AF5D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530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71EDB-6C6F-45BC-9330-7AE42C73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813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75 – 99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8FF03-FD8D-4187-8CD6-29236B7E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1242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CRITICAL (Fast-Track)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07E3B3-DD8C-4CEB-9FEF-6E9D0EF1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528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04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Внеочередная подача на первый свободный док или переброска в 24/7 хаб города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8280C3-E98A-4A9E-9678-5563AE2E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530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E71CFA-9189-4F03-A40E-F614ED27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55 – 74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24CBB2-E09B-4CC4-9D36-47E8CBF2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HIGH (Высокий приоритет)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888CC6-94E1-469D-AF44-DF613941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576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996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Приоритетное обслуживание внутри текущей 3-часовой операционной волны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788456-1775-49EA-89F0-3E634F66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530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97CF3C-EBAB-49C8-B253-776A3103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38 – 54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21B92B-BBBE-46A7-BF88-384C5134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5339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MEDIUM (Стандартный)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B91B04-94B2-4D54-9864-B2D5BF6D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6250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42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Плановая синхронизация тайм-слота и дока с устранением накладок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DDE221-4D4F-4F91-8106-6F316C62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43500"/>
            <a:ext cx="53054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698D51-D98F-44EB-B28C-DE17E94B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959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 – 37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2B8CFA-0076-4ACE-B746-DB1B4885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387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LOW (Гибкий слот)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3C8EFF-3E79-40C5-B4A7-A40C39BC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467350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27"/>
          </a:bodyPr>
          <a:lstStyle xmlns:a="http://schemas.openxmlformats.org/drawingml/2006/main">
            <a:def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Перенос слота со сверхурочных и пиковых часов на свободные окна смены</a:t>
            </a:r>
          </a:p>
        </p:txBody>
      </p:sp>
    </p:spTree>
    <p:extLst>
      <p:ext uri="{BB962C8B-B14F-4D97-AF65-F5344CB8AC3E}">
        <p14:creationId xmlns:p14="http://schemas.microsoft.com/office/powerpoint/2010/main" val="33513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9AE5CF-ACAA-49B5-8F3E-732508B9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5A6A9-4507-4E46-B2D5-6AC5E485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МАТЕМАТИКА ОПЕРАЦИЙ У ДОКА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4B045-F1F7-474A-8C88-F487F13B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Физическая модель длительности обработки у дока S(i)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BE153-FDD4-4EA8-B026-6514D71A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613A2-310A-42D8-8F43-138E3368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55075-B718-4236-9CA7-E3869A82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11001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77ACE-75F2-4C45-A794-9979EB8D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9E7C4-AE8B-48D4-854F-8579C252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Время фактического занятия ворот дока (в диапазоне от 25 до 120 минут):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D452D-60CF-4129-A030-A263F6B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714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S(i)  =  clip [25, 120]   S₀(type)   +   6,5 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BD2EE-C45B-4D7D-933E-7E629AB2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66900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Weight(i)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6D83E-834C-4D2D-8798-8EDA9E11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52650"/>
            <a:ext cx="17049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838C0D-7B87-4E2B-9C27-DDA823DB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00275"/>
            <a:ext cx="185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10 000 фунтов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CD922-A9A8-430E-9E74-9AAA917C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336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+   1,15 × Pieces(i)   +   12 × I(Reefer, 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AB1AE-093C-4373-9745-4B74411B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S₀ = 32 мин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90C2D-C6A4-424B-B955-EF1D8A35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242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Базовое время швартовки и оформления для погрузки (Pickup)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1844D-3974-43C7-9E35-CBFD4D54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86150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75B2E-53E2-47A9-AD48-F5061BA4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S₀ = 38 мин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1E7A7-4ED1-4AE6-B40E-A5C88641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385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16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Базовое время швартовки и проверки документов для выгрузки (Delivery)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04BC26-4123-4CAD-9B88-7B6D98DEA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430B0-7A6D-4F5A-B607-61729BB8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+ 6,5 мин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75A99-8EBB-4028-AD2E-64B63638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1529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47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каждые 10 000 фунтов (lbs) массы груза (работа вилочных погрузчиков)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57FDA-6D7D-4C85-8D8B-2571A84A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AA31F-9D12-43F3-B41E-EA057355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+ 1,15 мин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D1FEC-BCED-46BB-914B-24A870BD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672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28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 каждую грузовую паллету / место (pieces) при перемещении в зону приёмки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6CC7C-404F-4833-BCA3-A3914939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95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3D972C-B935-495B-8F39-C49C2B59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+ 12,0 мин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822EB2-AD16-48A0-B28C-9EC594C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816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7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Инспекция термографа и температурного режима для рефрижератора (I = 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00B62-15D1-4D66-B9E1-AF106501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37338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1BA862-CCCE-4406-B3A1-D37D97F2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E2E01C-1090-490D-AB9A-EB904DDC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Численный пример расчёта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EBD5A6-F43B-477A-8F6B-11E887A6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Входные параметры рейса: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Операция: Выгрузка (Delivery → 38 мин)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Масса груза: 30 000 lbs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Число паллет: 18 шт.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Тип кузова: Рефрижератор (I = 1)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B98DAF-1C2D-4DE3-BA0A-94F852C6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3286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FD87CC-EFBF-40BF-B357-44A9ED49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S(i) = 38 + 19,5 + 20,7 + 12 = 90 мин</a:t>
            </a:r>
          </a:p>
        </p:txBody>
      </p:sp>
    </p:spTree>
    <p:extLst>
      <p:ext uri="{BB962C8B-B14F-4D97-AF65-F5344CB8AC3E}">
        <p14:creationId xmlns:p14="http://schemas.microsoft.com/office/powerpoint/2010/main" val="1388571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4B736C-1ABF-4D72-89DD-AE316F22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61A48D-6D42-4B46-B254-02DB211C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АЛГОРИТМ ДИСПЕТЧЕРИЗАЦИИ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45EA9-4B22-4B51-B01B-DBE2D4DD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Волновой алгоритм распределения фур по активным докам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9BF56-7788-4B09-9115-BCEE0BC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97F6B-E411-4AF4-A6EC-9D5BDCFF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0556A-7D89-461B-93BF-9FD1E466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334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535D5-DB12-4146-B40D-B3719B80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B298D-E978-46F4-9CB3-5AA880EF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1. Активные бригады и волновая сортировка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782E8-CDCC-434E-9C74-B205A77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Число одновременно работающих секций доков c: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58FE9-70A5-45A5-A77E-9C848A11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  =  max( 2 ,  min( 8 ,  round(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14C9-2CFE-4E39-B9BE-43BE0F6E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M(f)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B1356-2140-45A9-9919-891580F7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543175"/>
            <a:ext cx="990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50934-D7DB-4EB6-9CFA-F02D3080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81D43-A6D6-4B22-88F0-34263CDC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955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) ) 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F196F-DACE-43C9-93CE-5CCD456F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56D2FA-8BA9-4F16-8DAC-82C56F50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Индекс 3-часовой операционной волны w(i):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BF8BE-6B30-422C-ADDE-E0EA7906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w(i)  =  floor(  h(act, i)  /  3  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07438A-61C7-40F1-8CA6-1223DFAE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Лексикографический ключ сортировки внутри суток: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F0BE0-CB5D-479C-BEE7-88A86C6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487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54D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0D0B1D-7E94-40E1-9684-4A92812C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Key(i)  =  (  w(i) ↑ ,   − P(i) ↑ ,   t(act, i) ↑  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CADB0-D507-448E-9B7B-8EC2D713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Внутри каждой волны первыми к доку идут рейсы с высшим приоритетом P(i).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8774AC-C672-492F-98F1-64613F10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14039-0ED6-4230-91F4-8923B3A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04950"/>
            <a:ext cx="476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E68DDA-C7E5-4640-916D-C9C2CF9E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2. Назначение первого свободного дока b*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48FDF5-811D-4226-8082-4B11E06C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905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57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Для каждой бригады b ∈ {1, ..., c} отслеживается момент освобождения τ(b):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1B908-6CE7-48BB-A4A3-497A637D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4876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D57EFE-25AC-4510-B7AC-0D8D825B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90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b*  =  arg min   τ(b) ,     b ∈ { 1, 2, ..., c }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99D57-3051-4297-B1D8-726508A6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Расчёт времени ожидания в очереди перед доком W(queue, i):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D00643-E874-427B-945C-5D43615F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W(queue, i)  =  max 0 ,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C4414-7DD8-4A23-966E-D211845B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52800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t(start, i) − t(eff, i)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6036FA-B8A7-4554-B46A-EE16DD76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38550"/>
            <a:ext cx="2276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5DBA8B-B962-4D1F-83CB-369E172B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86175"/>
            <a:ext cx="2428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60 секунд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948FE3-11C6-4F49-B8B2-BAB9AD7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719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D14246-1812-42F1-8FE6-FBD68504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490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Обновление таймера освобождения дока (плюс 5 мин на пересменку):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4BB088-9489-4535-9C9D-06683046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t(end, i) = t(start, i) + S(i)  ;     τ(b*) ← t(end, i) + 5 мин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BEA08-5F19-4BA8-8A07-FE472F11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33950"/>
            <a:ext cx="490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Если фура прибыла вне рабочих часов (I = 1), алгоритм перенаправляет её в открытый хаб города (транзит 15 мин) или переносит слот на открытие.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FB916C-6359-42B8-8CEC-9028616E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Реализация в коде: модуль backend/queue_optimizer.py (метод QueueOptimizerEngine.optimize_facility_queue).</a:t>
            </a:r>
          </a:p>
        </p:txBody>
      </p:sp>
    </p:spTree>
    <p:extLst>
      <p:ext uri="{BB962C8B-B14F-4D97-AF65-F5344CB8AC3E}">
        <p14:creationId xmlns:p14="http://schemas.microsoft.com/office/powerpoint/2010/main" val="1921166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265FC4-557A-4916-B1F0-A5E6D9B9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8C1D3-B141-4998-B821-05BB662C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МАШИННОЕ ОБУЧЕНИЕ (SCIKIT-LEARN)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D3012-CE2D-467F-941F-717F48CE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ML-модель градиентного бустинга обучается на 15 признаках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5D6D0-F9E1-4E39-8576-FB1ACB66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D0916-E3D9-4B14-8800-EDCD5C0C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F1430-D592-4E8C-8B6D-39CD74CC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Ансамбль деревьев HistGradientBoostingRegressor (K = 100 деревьев, шаг η = 0,08, глубина d ≤ 6)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DB9B8-A04C-44E3-98C8-87C7C9D4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85950"/>
            <a:ext cx="576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2E707-6C57-4702-BF3D-661F25C7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1. Параметры склада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BD6BDC-9BDD-441A-854B-296D6E1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число доков M(f), часы открытия/закрытия, индикатор 24/7, тип терминала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C3121-9235-417E-B3BA-DBFA857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576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2AA36-954B-4AB0-A56B-156BCD29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2. Характеристики груза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D22C70-9E61-4B9C-A07B-EB279079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масса weight_lbs, число паллет pieces, температурный режим (Refrigerated / Dry Van)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803F3-7445-473B-B94D-BEDF7480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576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F397E-2F85-4664-9280-094C5C43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3. Тип операции и SLA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B08530-A087-4249-A63F-D148218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тип события (Pickup / Delivery), уровень контракта (Dedicated / Contract / Spot)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4F4E2-773C-4EB7-B00B-AE6FB608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576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338F4-F79C-40D8-B750-749DC373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4. Календарь и трафик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1C62A-7CDB-46B8-B8C2-4ECC37DE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546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час прибытия h, день недели, накопленное опоздание Δt(i), флаг закрытых ворот I(OOH)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A2D69-7536-4171-9461-A370D4A4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5762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B3352-FFF4-45D9-AFED-754EE1A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5. Плотность очереди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25F3F-2AB8-4D35-AF9E-33306734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удельная почасовая нагрузка на один док склада:  L(f, h) = N(f, h) / M(f)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35745-0540-4773-9249-FF025A9F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497205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1F694-90AB-46F8-82D8-4A725AF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85950"/>
            <a:ext cx="47625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C71419-5026-4F13-9FE5-8A2794DB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Математика обучения ансамбля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F7A07-4827-4F4E-8947-1DBE48BD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003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1. Аддитивная модель предсказания (100 деревьев):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C76AD-8F75-496A-8225-D09AB6E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2402D-960B-4E5F-B752-2B1D1DBB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F(x)  =  F₀   +   0,08 ×  Σ  T(k, x) ,    k = 1..100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D865E-6302-49DA-922C-E909EE83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2. Комбинированная целевая переменная y(i):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96E86-5411-46F4-8864-6C519CDB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623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3CD50-3792-43C6-B1FE-44DC8E3E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957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y(i)  =  clip [5, 300] ( 0,65 × D(hist, i)  +  0,35 × P(op, i) 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DD0C42-EE64-4F78-AC74-8ED3EEE8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005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3. Физический штраф за перегрузку P(op, i):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A8F40D-4E7E-4AF1-99AA-F21BA05B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52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P(op, i) = 65·I(OOH) + 18·(m/45k) + 12·(p/30) + 0,15·Δt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13F2B-9A48-4710-9D39-4A9DD061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449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82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Обучается при старте сервера на выборке 45 000 рейсов (MAE = 36,9 мин).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E19B9-BAFA-42E5-B834-D81B9B5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Реализация в коде: модуль backend/ml_predictor.py (метод DetentionMLPredictor.train).</a:t>
            </a:r>
          </a:p>
        </p:txBody>
      </p:sp>
    </p:spTree>
    <p:extLst>
      <p:ext uri="{BB962C8B-B14F-4D97-AF65-F5344CB8AC3E}">
        <p14:creationId xmlns:p14="http://schemas.microsoft.com/office/powerpoint/2010/main" val="12575264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09F91-3543-451B-84B1-78EBE69C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C8184-ACC6-4CF3-AC13-EE0D1098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ОПТИМИЗАЦИЯ ТАЙМ-СЛОТА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3D8B5-C309-49D5-A669-3D6D1CD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Выбор оптимального часа минимизирует функцию ожидания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D15A8-2036-4743-B0EB-40C1B583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3BFB1-0F0E-4A5A-999B-3551B327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E5944-7D93-4A19-80C5-A2D687EF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100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0D8F4-0BD5-4553-9923-9FBF832D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B006E-D821-465F-8E3E-906AC088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Шаг 1. Почасовой прогноз полного простоя D(pred, h) для каждого часа суток h ∈ {0, 1, ..., 23}: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60224A-94EA-4BC7-848D-29BA80C6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1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D(pred, h)   =   F( x(h) )   +   0,45 × W(gate, 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DF298-AD7B-4ADB-9D32-1E429EF8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1AB48-050C-487D-97B8-1F111279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где  W(gate, h) = ( H(open) − h ) × 60 мин — время ожидания открытия ворот, если час h приходится на закрытую смену склада (при открытом складе W(gate, h) = 0).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39F1D7-0082-484E-BB71-3F4BF7BC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100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D6330-63BB-4A1E-8A2A-044BEBF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C1FED-0C7D-4017-A28D-892AFEFB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Шаг 2. Задача минимизации по множеству рабочих часов терминала H(open):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076DD-27F6-4F22-8740-1983584C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h*   =   arg min   D(pred, h) ,       при условии   h ∈ H(open)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A40CF-AEFD-4D9B-8D83-362DF614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A16B42-0B06-4FA7-AAAF-6F8832CA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Потенциальная экономия времени при переносе рейса с часа h(req) на рекомендованный слот h*:    ΔD(save)  =  max( 0 ,  D(pred, h(req)) − D(pred, h*) ).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9B1E5D-25FE-475A-B5B4-0DAC1ACC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Реализация в коде: модуль backend/ml_predictor.py (метод predict_detention_and_best_slot) и интерактивный калькулятор на дашборде.</a:t>
            </a:r>
          </a:p>
        </p:txBody>
      </p:sp>
    </p:spTree>
    <p:extLst>
      <p:ext uri="{BB962C8B-B14F-4D97-AF65-F5344CB8AC3E}">
        <p14:creationId xmlns:p14="http://schemas.microsoft.com/office/powerpoint/2010/main" val="1320678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57469-8EEC-4CCF-856F-429174E1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541D9-A866-4850-862A-BE72998A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ТЕОРИЯ ВЕРОЯТНОСТЕЙ И СМО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C841E-6BCF-4741-9E20-C8D51C42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Гамма-распределение моделирует положительный хвост простоев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3A313-1D2F-406E-B6CA-A5A7C7FD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EBE39-E762-4A41-9348-145FD43C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A9F3A-16E6-4668-9F7F-E75DD045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47687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85F3-F5A8-47E8-9AC0-3BE1001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76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3D8EE-5D31-4EB5-919C-F3E91944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Функция плотности вероятности Gamma(α, 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BB4A2-011E-49DF-9E7A-B0883082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Время ожидания у дока T &gt; 0 строго положительно и имеет правую асимметрию (редкие затяжные простои до 239 мин):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187467-9C1E-44D4-8B5C-45363D00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5000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54D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E9D3E-306F-4F42-AAF0-988EDBEB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f( t | α, θ )  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F1A88-3BEE-47CC-8318-84BE08A3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0510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36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8D366-E221-41F7-ADFA-97261F6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098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α − 1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FA121-9940-4FC3-9F71-2A817D4A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05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036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×   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8E6623-32A6-4163-AE97-8331538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09850"/>
            <a:ext cx="619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− t / 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D51E90-6DA2-405F-BD6C-A86A171B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D2DCD-8A34-47C2-942D-DA692F4C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Γ(α)  ×  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1D4BF-31F3-4151-9CA7-32558D73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38475"/>
            <a:ext cx="23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601902-5850-4271-9DFC-597F462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500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Числовые характеристики распределения (при t &gt; 0, α &gt; 0, θ &gt; 0):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7D197-ADAD-4BDB-9CFD-EC7B9B4E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•  Математическое ожидание:    E[T]  =  α × 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96417-BAAC-42A1-9619-5D7ED53F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•  Дисперсия времени простоя:  Var(T)  =  α × θ²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DD890-528A-4303-BB7A-3837181D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500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 Мода (пик плотности при α ≥ 1):   Mode(T)  =  (α − 1) × 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661954-8B52-456A-A4F2-94714573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Параметр α задаёт форму кривой, а θ растягивает шкалу минут.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B9E237-840F-43CA-BB57-AC9D474F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2578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95204-49B8-4307-97B6-F2E74EAF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476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FAF6A1-5DCA-49E5-9D58-D3A9850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Реальные параметры Gamma на данных проекта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0E4F9-E796-4867-A0EE-9744485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Оценено модулем compute_gamma_analytics (scipy.stats.gamma):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C49B3-62F4-4E4C-9E8E-2233D576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781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61C23B-B591-4499-BAC3-1F39D48E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Терминал FAC00012 — Атланта (3 278 рейсов)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BE631A-8E51-46CD-9851-A9653935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62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1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2,78     |     θ = 38,35 мин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5D07CB-D74A-4F0A-93D6-5E892B21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 E[T] = 106,5 мин   •   Ст. откл. σ = 63,9 мин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Квантили хвоста:   P90 = 192,1 мин   |   P95 = 228,5 мин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34E6C5-C805-4ADA-B5B8-558CACD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47815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CABD08-72E3-438D-95D5-371D3FD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Терминал FAC00008 — Филадельфия (3 435 рейсов)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C2C0AD-134C-485C-9A6A-989EDBB7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81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= 2,92     |     θ = 36,64 мин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D4D7DE-523A-4DBF-A546-CC36D7C0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Среднее E[T] = 106,9 мин   •   Ст. откл. σ = 62,6 мин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Квантили хвоста:   P90 = 190,7 мин   |   P95 = 226,1 мин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F77F60-146E-4F1E-95CF-96D5B3B9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Реализация в коде: модуль backend/ml_predictor.py (метод DetentionMLPredictor.compute_gamma_analytics).</a:t>
            </a:r>
          </a:p>
        </p:txBody>
      </p:sp>
    </p:spTree>
    <p:extLst>
      <p:ext uri="{BB962C8B-B14F-4D97-AF65-F5344CB8AC3E}">
        <p14:creationId xmlns:p14="http://schemas.microsoft.com/office/powerpoint/2010/main" val="10275014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D7E56-01EA-4D8D-A9E3-7234189B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6AF16-7B96-4035-964F-EA4041A9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КАЛИБРОВКА GAMMA И ОЦЕНКА РИСКА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A9542-DD4E-4FC0-94C9-76458E5E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Метод моментов переводит историю простоев в риск срыва SLA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9148A-158C-4975-A768-4E8B066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C602B-E643-48FD-8060-CA29DF2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F75B0-D07B-49C6-8BFE-6C57DACB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33400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F551A-7B01-4E71-BC89-B4EE2163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76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7D22A6-E3DD-44B7-A5D7-695E27BA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1. Оценка параметров методом моментов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96011-EE5C-405A-ADFD-53C9F4B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 выборке положительных времён простоя с выборочным средним M и выборочной дисперсией S²: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762DE-0EAA-4ECC-9524-DBFCC37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38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α  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71933-BF50-4F26-8A79-D1DCFA7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5908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M²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1E64B-832A-4793-8E79-A156D670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905125"/>
            <a:ext cx="108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62E30-2C45-4557-A6B0-BDEEE262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9527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S²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908AF-8172-4AC6-9A65-6FD11ACD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384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θ  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2E7FB-5AAC-4D82-80BF-3912C373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908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S²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7B388-4D80-4FB6-930C-7F72D1E8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05125"/>
            <a:ext cx="1038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9FD4B-0F50-4510-881A-A0BEFD4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527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F55E0-6C43-4AD0-92FA-F0249424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83251-39A6-4451-AF4E-EA8CE166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4876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Связь с коэффициентом вариации CV = S / M: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Параметр формы равен обратному квадрату вариации:   α = 1 / CV².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60175B-2D80-4BF4-AD84-BA29D89D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353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A4A27-C76D-4E79-BB79-D879D13D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476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1B164-021A-4634-A842-9F8C5EF7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2. Вероятность превышения норматива SLA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E7763-1345-4551-B456-7C88D543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Пусть L = 120 мин — предельно допустимый простой по SLA: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CA0BFE-6AC2-4283-B849-63485938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876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BF2DE-DC59-4DFB-A261-0BD8EF7C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P( T &gt; L )  =  1  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91D9B-58C5-4911-8DBF-127C834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95550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γ( α ,  L / θ 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F1346D-D154-466A-9A47-CDBA0E3B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2181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1CB5D-25E8-433D-AF80-9ABA97CD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2892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Γ( α 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BFA2BD-5BA3-4B48-B0F4-6FBC7DCB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876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где γ(α, z) — нижняя неполная гамма-функция (интеграл от 0 до z).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На складах Атланты и Филадельфии до AI риск P(T &gt; 120 мин) составляет 34,3% – 34,6% (каждая третья фура нарушает SLA!).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314BB0-69FC-4A4D-83F5-33790464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110013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B64A7-475F-449B-B6D5-D94F2981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0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B1FA7E-1AFE-4AFD-A960-852EAD03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244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Операционный смысл для диспетчера: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2CA04C-EA6E-48F7-9AE3-D7311224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Ориентация только на среднее время E[T] скрывает риски правого хвоста. Квантиль P90 (192 мин) и вероятность P(T &gt; SLA) позволяют заранее перенаправить критический рефрижератор в другой хаб.</a:t>
            </a:r>
          </a:p>
        </p:txBody>
      </p:sp>
    </p:spTree>
    <p:extLst>
      <p:ext uri="{BB962C8B-B14F-4D97-AF65-F5344CB8AC3E}">
        <p14:creationId xmlns:p14="http://schemas.microsoft.com/office/powerpoint/2010/main" val="3601960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8B0F2F-334E-432F-9F61-E09EAE98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B436D-470F-463A-A7FF-0CCE126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ТЕОРИЯ МАССОВОГО ОБСЛУЖИВАНИЯ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96436-64A6-491E-808F-533D1247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Модель СМО G/G/c связывает поток фур, время у дока и число ворот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C87BD-883C-4509-8BE6-0D5EDA6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DA190-B7D6-4CE4-85ED-EA437CE7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FB06-80C0-4F97-A5CE-20272A34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334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794E2-D1A9-4DEE-B771-C486757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76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FCA16-DB34-4CC8-B3D4-2774A31F9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Многоканальная очередь G / G /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09F82-ED8B-4AAA-B05D-98BF2169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Первая G (General): произвольное распределение интервалов приезда фур (с пиками и опозданиями).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Вторая G (General): гамма-распределённое время разгрузки S.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Число каналов c: количество одновременно работающих бригад доков.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9076D6-A5B4-4637-92BC-F050215F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Коэффициент загрузки терминала: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13D56E-B616-4CD7-908A-7C5E446F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1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ρ  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CBC01-6AF3-41B3-830D-B5AE031B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38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λ  ×  E[S]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00750-618F-421E-9865-2333CB45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933825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AF34C-68A8-4978-AAE1-895EE0B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981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27"/>
          </a:bodyPr>
          <a:lstStyle xmlns:a="http://schemas.openxmlformats.org/drawingml/2006/main">
            <a:def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c  (число активных доков)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1B7A8-5E9C-434F-A37A-65BD9AC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Условие устойчивости очереди (отсутствия лавинообразного затора):   ρ &lt; 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751FFC-E279-481A-ACE6-ED95F15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353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0BFE2-03C6-4355-88DB-5F56C2B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476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64A78-6567-4963-938E-5CB08183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Как нарушения режима взрывают загрузку 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35CDD-17DB-4E9E-9265-A0CF7BE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876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1. В нерабочие часы склада (I = 1) число активных бригад падает до нуля (c = 0), поэтому накопившиеся у шлагбаума фуры создают ударную волну λ(peak) в момент открытия смены в 08:00.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6F106-5EF4-4399-82DD-306F72C5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876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2. Когда мгновенная нагрузка приближается к порогу мощности (ρ → 1), очередь перед воротами растёт нелинейно и захватывает соседние часы.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3815CD-035B-43F4-9E60-0E9526F0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48B70-2942-4D70-91BE-6DAD3E6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Два рычага управления в руках AI-агента: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2521D3-A877-403C-9BEB-09CF731B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86250"/>
            <a:ext cx="4876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Снижение интенсивности потока λ за счёт переброски части фур в открытый хаб города (Cross-Dock Overflow).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Снижение разброса приездов за счёт назначения точных тайм-слотов.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0DE2D3-04D2-4845-9611-653A7348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Обозначения:  λ — интенсивность входящего потока (фур/час)   |   E[S] — средняя длительность обработки у дока (часов)   |   c — число активных секций.</a:t>
            </a:r>
          </a:p>
        </p:txBody>
      </p:sp>
    </p:spTree>
    <p:extLst>
      <p:ext uri="{BB962C8B-B14F-4D97-AF65-F5344CB8AC3E}">
        <p14:creationId xmlns:p14="http://schemas.microsoft.com/office/powerpoint/2010/main" val="11683238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FC840C-527F-4256-A03C-C87EEAA7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8A3FC-B628-4193-BECC-BFA4D864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МАТЕМАТИКА ОЖИДАНИЯ В СМО G/G/c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D0887-D918-433F-8E94-218BBCBC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Формула Кингмана объясняет нелинейное гашение очередей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476B2-48E6-4E31-8EAC-0C729AF5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945A-3ACE-4620-AF7F-A5DFBC78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2180F-531D-49E1-8FB4-07376B4C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110013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AE78F9-E7C7-4A9C-B690-1F1EEC96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4762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2A780-E89B-41DE-B96C-4B1EF188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Аппроксимация Кингмана для среднего времени ожидания в очереди перед доком E[W(q)]: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F9FBE-C5A5-4861-93DE-D5E13331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666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E[ W(q) ]   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6AE38-71BF-4C60-91A7-1F41D20B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431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C²(arr)  +  C²(srv)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412B6-7A69-4DC5-BE03-5CC51A6A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38375"/>
            <a:ext cx="2181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DF4E1-FF29-46A0-8425-7829592E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532CB-8287-4536-8A67-8E6D57AB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90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800" b="1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3C0D2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ACF38-C26C-483D-8D91-DDB2EBE4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431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47"/>
          </a:bodyPr>
          <a:lstStyle xmlns:a="http://schemas.openxmlformats.org/drawingml/2006/main">
            <a:def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72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9C340-07F7-4697-8EA7-019EF18E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√(2(c + 1)) − 1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3A71B-12C0-4333-B210-3E5ED72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38375"/>
            <a:ext cx="2800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9F1768-4AB6-4F3D-AA83-D137D5A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05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A718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A7185"/>
                </a:solidFill>
                <a:latin typeface="Arial"/>
                <a:ea typeface="Arial"/>
                <a:cs typeface="Arial"/>
              </a:rPr>
              <a:t>c  ×  ( 1  −  ρ 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82D6C-C416-4D06-AF21-9A7F04FE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90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×     E[ S 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D53853-7E30-47CB-8F4F-2F258E4B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3340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595BB-C4C1-492A-BE1B-2A642A46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43F94-1307-472E-8BD5-CD935066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Квадрат коэффициента вариации прибытий C²(arr):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75450-B6C6-44F5-8F23-60D1852A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C²(arr)  =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06B2B3-2873-41B6-A2B3-5732F47B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600450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Var( I 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2AC1E-D37B-4ABC-8495-5DCAEE24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86200"/>
            <a:ext cx="1562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16005-1F8F-40C0-884F-80C4E0C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33825"/>
            <a:ext cx="1714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( E[ I ] )²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D57D32-D512-4B9E-95FF-A85E14A4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00450"/>
            <a:ext cx="1981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04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 хаотичном приезде фур C²(arr) ≥ 1.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Назначение точных тайм-слотов сглаживает интервалы I и сжимает C²(arr) → 0!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ACAC19-3A2F-43DB-B91A-2572E53B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53530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480F19-DF6C-4117-B6BA-15902FB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43250"/>
            <a:ext cx="4762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25DD16-FCDE-4335-B8AF-DCB6186F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Квадрат коэффициента вариации обслуживания C²(srv):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3E3FB5-FBC4-428E-AAF8-0B1B14C4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290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6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C²(srv)  =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49F68C-DC8D-485B-ADF9-5F9048F8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Var( S 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93666-08C7-4973-9973-E253DA4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86200"/>
            <a:ext cx="14192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1AFE6F-67B5-424F-9F87-9920E14A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33825"/>
            <a:ext cx="157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( E[ S ] )²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1C39D1-CEEE-48AB-B69D-53134C07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00450"/>
            <a:ext cx="2171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=  1 / α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Для гамма-распределения C²(srv) обратно пропорционален параметру формы α.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E0FCD8-3D6A-45C4-B347-AC63151D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11001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7ED84C-6F22-4190-AABF-3D69BE89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91100"/>
            <a:ext cx="47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A49383-F6E5-46C6-B684-255C7C74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Почему оптимизация даёт сокращение простоя сразу на 65–82%: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A87F1-3BEF-4F9D-92C2-EE21D05FC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В знаменателе формулы Кингмана стоит множитель (1 − ρ). Когда склад перегружен (ρ → 0,95), малейшее снижение потока λ за счёт ребалансировки в городской хаб (до ρ = 0,70) уменьшает дробь 1/(1−ρ) более чем в 6 раз!</a:t>
            </a:r>
          </a:p>
        </p:txBody>
      </p:sp>
    </p:spTree>
    <p:extLst>
      <p:ext uri="{BB962C8B-B14F-4D97-AF65-F5344CB8AC3E}">
        <p14:creationId xmlns:p14="http://schemas.microsoft.com/office/powerpoint/2010/main" val="5084727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0DB44-FA82-4A55-A0F5-86B3659E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26248-DF43-4563-B47E-C44A9022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ПРАКТИЧЕСКИЙ РАЗБОР НА ДАТАСЕТЕ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6AB11-C46C-469C-883E-748FA29D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Кейс Атланты (GA): кластер из 4 терминалов гасит 72,7% простоя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89AC6-4DC0-4E5D-B4BE-59C2816D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D00E2-41EE-4443-A992-DE17C877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A0573-26C5-44F0-9E6D-ECE3B2D9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Узел FAC00012 (Atlanta Distribution Center)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308F3-2929-467C-814A-A6649CAF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Всего 16 доков  |  Режим 08:00–17:00  |  3 278 событий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726DE-7840-4169-A18C-4A841A6A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888F9-C2EB-45C1-B833-8EA3D200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>
            <a:def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30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49,1%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5F34C-7F54-4BDF-87F0-FFBA9CC4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305050"/>
            <a:ext cx="3000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12"/>
          </a:bodyPr>
          <a:lstStyle xmlns:a="http://schemas.openxmlformats.org/drawingml/2006/main">
            <a:def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рейсов прибывают вне рабочих часов (к закрытым воротам).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Партнёрские хабы в г. Атланта: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FAC00026 (31 док, режим 06:00–22:00)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FAC00043 (88 доков, режим 07:00–19:00)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FAC00006 (149 доков, дневной мега-РЦ)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AB4EF8-6CC8-4D56-A83B-53556D73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9950"/>
            <a:ext cx="4762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65CAC-8156-4C5D-9D20-AD8834E3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Результат AI-оптимизации окна (16 фур):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8A64C-0EE3-4F12-B8BF-2B85D43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78,2 мин  →  21,4 мин  (−72,7%)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E44251-0FB4-4B42-AB33-EB93EDE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82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Сэкономлено 910 минут простоя  |  $1 137,50 штрафов  |  12,9 гал. дизеля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66052-89D0-4994-91DA-1A745255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240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26"/>
          </a:bodyPr>
          <a:lstStyle xmlns:a="http://schemas.openxmlformats.org/drawingml/2006/main">
            <a:def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Примеры реальных решений AI-агента на рейсах Атланты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D05A91-C5AA-49F9-9F9D-31C2CA50B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43100"/>
            <a:ext cx="592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6BC38-DE21-44A9-93EB-C890B770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431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5D6EF-5EB3-46DB-BF21-ED5894D8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383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LOAD00064616 (ABC Manufacturing)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54D44-0999-4F7A-A23F-9AE17AD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0193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103 мин  →  28 мин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1D149-3E61-4760-A2E5-2B30EEAC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05050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Рефрижератор • Прибытие в 03:45 ночи (склад закрыт) • Приоритет 63,4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B1ED18-0E79-489D-9EE5-00671F5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52700"/>
            <a:ext cx="557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Перенаправлен в открытый хаб FAC00026 (Док #2)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BC611F-0576-4161-8BFF-4F1B34C9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09900"/>
            <a:ext cx="592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8D85D7-3DBA-488E-A363-78B52003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099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C02390-45D6-4E7F-A17D-CD2468B3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105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LOAD00064692 (First Supply Chain)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FC205-7570-4082-9E33-ADB17DAC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861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133 мин  →  27 мин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88C96-D2B4-4B7A-8C52-4A28C92B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71850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Dry Van, Dedicated • Прибытие в 07:19 утра • Приоритет 53,7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E7FE29-2370-49F1-B926-65B6F35E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19500"/>
            <a:ext cx="557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Перенаправлен в открытый с 07:00 хаб FAC00043 (Док #3)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CB5F0-6EA3-42E3-B171-E0C04A6C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76700"/>
            <a:ext cx="5924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3AE36-3BCD-414D-9DEB-B6BE346F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7670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EA726-D512-4B41-9174-4789F63D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719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LOAD00064555 (First Distribution)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CFCA2-A293-486E-B9E0-5FD03A5B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529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102 мин  →  10 мин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DE5C40-F256-4692-831D-5B958202D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38650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Рефрижератор • Прибытие днём в 10:41 • Приоритет 69,2 (Fast-Track)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C4DD14-6C59-4066-867B-920C489F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686300"/>
            <a:ext cx="557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Внеочередная подача на Док #1 (−92 мин ожидания)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E46CD3-7F13-4AC8-B76C-2F32FBE0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85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18198"/>
                </a:solidFill>
                <a:latin typeface="Arial"/>
                <a:ea typeface="Arial"/>
                <a:cs typeface="Arial"/>
              </a:rPr>
              <a:t>Источник данных: реальные события из таблицы delivery_events.csv и расчёт модуля QueueOptimizerEngine.</a:t>
            </a:r>
          </a:p>
        </p:txBody>
      </p:sp>
    </p:spTree>
    <p:extLst>
      <p:ext uri="{BB962C8B-B14F-4D97-AF65-F5344CB8AC3E}">
        <p14:creationId xmlns:p14="http://schemas.microsoft.com/office/powerpoint/2010/main" val="19839345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19955B-68E4-4469-95BB-8336551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DD277-9B99-4E18-87B9-593653DE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ПРАКТИЧЕСКИЙ РАЗБОР НА ДАТАСЕТЕ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F0ACD-C201-48BF-81A7-2124F760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Кейс Филадельфии (PA): синергия дневного и 24/7 хабов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55EFC-4E03-45F7-8926-0D07CBF2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C9B5C-5609-4BCA-A4F9-7CC7E2FC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296A5-9DDC-40BC-9EEE-C2F7CE2F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33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FFB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BA38C-044D-4A59-82F2-80AF9D1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FAC00008 — Philadelphia Hub (Дневной)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7D722-11C8-40ED-949D-62BFAFB5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110 доков   |   Режим 08:00–17:00   |   3 435 событий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00E55-0EA1-44C9-ACFF-15D31E52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490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47,9% фур прибывают к закрытым воротам! Средний простой в пиковом окне достигает 100,9 минут (суммарно 1 615 минут на 16 рейсов).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DCC66-6001-4C6A-A8F1-06E045F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3530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39C6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7A08E-198B-4ED7-A86D-07D0F8DC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57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50"/>
          </a:bodyPr>
          <a:lstStyle xmlns:a="http://schemas.openxmlformats.org/drawingml/2006/main">
            <a:def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FAC00027 — Philadelphia Hub (Круглосуточный 24/7)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C133A-FEEE-45E3-A21C-88FB6D6C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144 дока   |   Режим 24/7 без перерывов   |   3 435 событий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3785B-7FEF-43CB-84F3-E5F44605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5050"/>
            <a:ext cx="4905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0,0% внеурочных простоев. Идеальный хаб-дублёр в том же городе для приёма ночных рефрижераторов и ранних рейсов.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37C302-B9FB-4B8C-B59D-177591A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575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Как AI-агент разруливает очередь на FAC00008: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A68733-53C0-45DB-AA23-C82DF14F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D09D8-50CA-4209-B7C1-A29ADBC6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614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Кейс 1: Ночной рефрижератор LOAD00050360 (05:51 утра)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D69B4-77EE-47FB-AE4C-BFB4F0CD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614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511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Приоритет 65,0 → мгновенный рероут в круглосуточный хаб FAC00027 (Док #1). Простой снижен с 72 мин до 24 мин.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94469E-BE32-41C6-A3E6-AE540521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B09F0-D65E-4AF9-A376-B92FD0D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14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Кейс 2: Спотовый сухогруз LOAD00050331 (04:11 ночи)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BCC01-0FFF-44BD-9673-F0DC8B2D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614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568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Низкий приоритет 28,5 (Spot) → перенос слота на открытие смены 08:00 (Док #1), чтобы не перегружать ночной хаб. Простой: 44 → 14 мин.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4E73B-FE2F-4C53-A160-AF3E9A6A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14900"/>
            <a:ext cx="647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995C38-556A-4358-BCAE-2F3D6C0E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614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12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Кейс 3: Критический SLA-рейс LOAD00050433 (10:48 дня)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D725C-6722-4013-9EEE-6D6AD19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614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239"/>
          </a:bodyPr>
          <a:lstStyle xmlns:a="http://schemas.openxmlformats.org/drawingml/2006/main">
            <a:def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05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Рефрижератор Dedicated (приоритет 85,5) → Fast-Track подача на Док #2 в минуту приезда. Простой снижен со 148 мин до 10 мин (−138 мин!).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BFF67-FA9C-4791-9CEB-02D7A3B6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4305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B3757-83A3-4215-8E5A-C5D2B8EC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19500"/>
            <a:ext cx="476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D9DACE-CB92-4E90-845B-5CECE34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909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42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Итоговый эффект по Филадельфии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0F4F48-47D2-4BC2-9080-D9DFDFE9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529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99"/>
          </a:bodyPr>
          <a:lstStyle xmlns:a="http://schemas.openxmlformats.org/drawingml/2006/main">
            <a:def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5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100,9  →  18,3 мин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493DE6-06D2-4F79-A3C3-AF595A18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51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Сокращение среднего простоя на  −81,9%!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Сэкономлено времени: 1 322 мин (22 часа)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Предотвращено штрафов: $1 652,50 за окно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• Сохранено топлива: 18,7 гал. (−190,4 кг CO₂)</a:t>
            </a:r>
          </a:p>
        </p:txBody>
      </p:sp>
    </p:spTree>
    <p:extLst>
      <p:ext uri="{BB962C8B-B14F-4D97-AF65-F5344CB8AC3E}">
        <p14:creationId xmlns:p14="http://schemas.microsoft.com/office/powerpoint/2010/main" val="4861222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4FB42A-4C04-4C26-BD2F-03310600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367835-1122-4BD3-BB0D-C6BB3A6F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ЭКОНОМИЧЕСКИЙ И ESG-ЭФФЕКТ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011B82-6E5E-4F0F-9498-00F5389C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Конвертация сэкономленных минут в деньги, топливо и CO₂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D5B91-2EE8-4E2F-8728-7131FD53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C7258-7B10-476D-8332-A512F05F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63001-0783-470A-A175-6D67F114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001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C8848-C3A0-4101-9945-EFD6E852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5E687-FC06-488D-8049-AD714423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904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Суммарное сокращение времени простоя по всем N фурам в операционном окне (в минутах):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AAAD4-8AA9-46A8-86D2-2D78C9A7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9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ΔD(total)   =   Σ   max( 0 ,   D(before, i)  −  D(after, i) ) ,       i = 1 ..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7D2BA-27ED-48CC-A57D-56FA2AEB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3524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DBBA3-C9DB-486C-A0DE-E4A2C960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041B8-730A-43DF-BC68-1AE42FC8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1. Прямая экономия штрафов ($)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577D1-3E85-4EF7-95C1-81C05129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67C49-FE09-49A3-9DCB-DFE8B4F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Cost  =  $1,25 × ΔD(total)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B5D5A-FF19-4028-8F5F-2396A003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При отраслевой ставке штрафа за сверхнормативный простой трака $75,00 в час ($1,25 за каждую минуту простоя).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D5878-F32E-4A5A-A4E0-7DE8B78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524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73CA6-CF13-4E9A-A6EA-20A01233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B5083-52A7-47A8-818A-FA63614C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2. Экономия дизеля (галлоны)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72D3A1-68C0-442D-BFFC-4D3668AE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718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70DA3-F21B-4D0A-8A37-B969864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86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Fuel  =  0,85 × ( ΔD(total) / 60 )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E748A-5D2F-4136-8886-266D04C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Тягач в очереди с работающим двигателем и компрессором сжигает в среднем 0,85 галлона дизельного топлива в час.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58C7-B3B1-4FE0-B44F-7C1414A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35242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A2435-0A3D-4D20-AE3A-55B5E782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9441D-E929-4C1D-8492-5C46F6F8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3. Снижение углеродного следа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C488D-FCD7-458B-ACE1-BAF54360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D464DE-1980-4BE9-9CD6-7704F59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861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CO₂  =  10,18 × Fuel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074293-1638-4EDA-8498-F8FDC14F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51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Сжигание 1 галлона дизельного топлива выделяет 10,18 кг CO₂ (стандарт расчёта Агентства по охране окружающей среды США EPA).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A79E3-B39E-4037-84B3-B6AF82DC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10013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F04C32-87D8-43B2-BA78-6573882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47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A9CE85-3A44-4EB9-BD71-07406CE4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Процент сокращения простоя терминала:    Reduction %  =  ( ΔD(total)  /  Σ D(before, i) ) × 100%.</a:t>
            </a:r>
          </a:p>
        </p:txBody>
      </p:sp>
    </p:spTree>
    <p:extLst>
      <p:ext uri="{BB962C8B-B14F-4D97-AF65-F5344CB8AC3E}">
        <p14:creationId xmlns:p14="http://schemas.microsoft.com/office/powerpoint/2010/main" val="19345915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98D5C0-1D4A-4BAC-BF0A-B968D40D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E790A-BA83-415F-AC73-79D3F09E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АРХИТЕКТУРА ПРОДУКТА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5667-B018-4A5E-9339-B762182B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Control Tower объединяет аналитику, карту доков и чат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A6886-D80A-45EB-8DBF-AF37D358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29617-1804-4112-88B7-DA4FA66E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7A0E8-3F7A-431F-997D-D8B9D736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5242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826076-1362-4E8F-AD27-A94B699A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A4DE8-725A-4674-AE37-1C14F589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1. Сводка и симуляция сети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1DC3B-6F8E-460B-AAB1-85C6B29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Мониторинг всех 50 складов США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Быстрый выбор топ-узких мест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Стресс-тест: вброс +6 / +12 / +18 внеплановых фур в пиковые часы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Настройка числа активных бригад (2..8) и межскладского рероута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37540-2BC0-44AA-80C9-32FC2278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8BEFA7-A35D-4FCA-928F-C8ECEE12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Позволяет диспетчеру тестировать устойчивость склада к штормам трафика.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1D1F6-0F1B-4B0C-B536-8E37E272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5242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613EF-9D2F-4107-A518-237E2A93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28F12-6D15-43F7-B0C2-B4F31F73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33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2. Расписание доков и ML-слоты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97F31-0636-4A7A-B31C-7A9B712E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Почасовой график простоев До и После AI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Интерактивная Time-Slot карта каждого дока (Док #1..N и хабы города)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Таблица очереди с фильтрами по риску, рефрижераторам и внеурочным рейсам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ML-калькулятор подбора идеального часа прибытия для нового рейса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62590-D105-45B2-ACF6-B6260D6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E63CF5-0695-4D74-928C-67E2911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14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Готовый порейсовый план разгрузки с точностью до минуты.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7FCF0-E6EC-438D-82A7-F1327079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524250" cy="3752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0AC3D-4630-4B36-8BE3-09233B34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3524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E637F-441D-4421-AB9B-7D40638D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3. Гибридный AI-Диспетчер (Чат)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AFAAF-6B64-4189-97CA-EB3A851D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Управление голосом/текстом на русском языке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Автоматический вызов инструментов (Tool Calling: optimize, predict, scan)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Полностью автономное ML-ядро (работает без внешних ключей)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Поддержка подключения Google Gemini, OpenAI GPT-4o и локальной Ollama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BB6C6-6CD9-45BB-A406-2F090C8A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624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07ECC-999E-4F74-AFC1-00CF4D27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B3C0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3C0D2"/>
                </a:solidFill>
                <a:latin typeface="Arial"/>
                <a:ea typeface="Arial"/>
                <a:cs typeface="Arial"/>
              </a:rPr>
              <a:t>Агент сам переключает дашборд на нужный город и объясняет каждое решение.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5310D-5995-4616-BD0D-D6BAEE7D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72125"/>
            <a:ext cx="11001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20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REST API эндпоинты (FastAPI):   GET /api/overview   •   POST /api/optimize   •   POST /api/predict   •   POST /api/agent/chat   •   GET /api/guide.pdf</a:t>
            </a:r>
          </a:p>
        </p:txBody>
      </p:sp>
    </p:spTree>
    <p:extLst>
      <p:ext uri="{BB962C8B-B14F-4D97-AF65-F5344CB8AC3E}">
        <p14:creationId xmlns:p14="http://schemas.microsoft.com/office/powerpoint/2010/main" val="13183749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F4BC1-14E6-44F6-A2D2-0D29FB3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47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E97DE-D1A9-4ABA-AFE0-8C57502C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975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ЗАКЛЮЧЕНИЕ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655BF-F5DC-488D-AE64-84A7AE5E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1001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2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Итоги разработки и дорожная карта пилотного внедрения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7A7A3-BBC7-4C01-BC50-91759D12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763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51D49-8703-4FB4-AC76-C053D131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4000"/>
              </a:lnSpc>
              <a:buNone/>
              <a:defRPr sz="975" b="1">
                <a:solidFill>
                  <a:srgbClr val="718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9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FEA74-5413-4269-BC86-726037B8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3340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66685-5F8A-4CB0-9543-474E3049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76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6A551-9995-4B6D-B3BC-8470B000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39C6A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9C6A5"/>
                </a:solidFill>
                <a:latin typeface="Arial"/>
                <a:ea typeface="Arial"/>
                <a:cs typeface="Arial"/>
              </a:rPr>
              <a:t>Что полностью реализовано в проекте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786692-C242-46FF-8F48-7DE91BFC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905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67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Загрузка и индексация реального датасета (50 складов, 170 820 событий доставки, 85 410 грузов)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Многофакторный скоринг приоритета P(i) и волновой диспетчер доков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Межскладская балансировка внутри города (кейсы Атланты −72,7% и Филадельфии −81,9%)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ML-прогнозатор HistGradientBoosting + оценка Gamma(α, θ) и рисков срыва SLA (P90 / P95)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Веб-дашборд Control Tower (http://127.0.0.1:8000) и гибридный чат-агент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A8717-5D49-4F8C-B4F6-2E17ECA2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53530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46049-386F-43F0-B229-3EFAED84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24000"/>
            <a:ext cx="47625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5066D-5761-407C-9A1B-7119843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>
            <a:def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75" b="1">
                <a:solidFill>
                  <a:srgbClr val="FFB4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B45B"/>
                </a:solidFill>
                <a:latin typeface="Arial"/>
                <a:ea typeface="Arial"/>
                <a:cs typeface="Arial"/>
              </a:rPr>
              <a:t>Этапы производственного пилота (Next Steps)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55EB2-C9A7-4826-A267-04D63742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0537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Валидация ML-модели на отложенной выборке (Out-of-Time Holdout) по сезонам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Интеграция с реальной WMS/YMS системой терминала и GPS-телематикой тягачей (ELD)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Учёт фактических сменных графиков бригад погрузчиков и времени пересменки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0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7FB"/>
                </a:solidFill>
                <a:latin typeface="Arial"/>
                <a:ea typeface="Arial"/>
                <a:cs typeface="Arial"/>
              </a:rPr>
              <a:t>• A/B пилот на связке хабов в Филадельфии (FAC00008 + FAC00027) с замером фактической экономии топлива и SLA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CC2B1-B330-49F2-934B-F493C24F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110013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C"/>
          </a:solidFill>
          <a:ln xmlns:a="http://schemas.openxmlformats.org/drawingml/2006/main" w="9525">
            <a:solidFill>
              <a:srgbClr val="263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3735C1-ABB6-4A37-9C2E-939B8705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96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D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495D3-51DC-4BC9-BD25-7B65C0F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350" b="1">
                <a:solidFill>
                  <a:srgbClr val="54D6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4D6E8"/>
                </a:solidFill>
                <a:latin typeface="Arial"/>
                <a:ea typeface="Arial"/>
                <a:cs typeface="Arial"/>
              </a:rPr>
              <a:t>Главный вывод проекта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E6FEB-BF7A-4105-B7B4-31DE7253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69"/>
          </a:bodyPr>
          <a:lstStyle xmlns:a="http://schemas.openxmlformats.org/drawingml/2006/main">
            <a:def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350" b="1">
                <a:solidFill>
                  <a:srgbClr val="F4F7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7FB"/>
                </a:solidFill>
                <a:latin typeface="Arial"/>
                <a:ea typeface="Arial"/>
                <a:cs typeface="Arial"/>
              </a:rPr>
              <a:t>Переход от живой очереди (FIFO) к математическому управлению тайм-слотами, приоритетами и городскими хабами-дублёрами позволяет сократить простои грузовиков в 3–5 раз без строительства новых ворот.</a:t>
            </a:r>
          </a:p>
        </p:txBody>
      </p:sp>
    </p:spTree>
    <p:extLst>
      <p:ext uri="{BB962C8B-B14F-4D97-AF65-F5344CB8AC3E}">
        <p14:creationId xmlns:p14="http://schemas.microsoft.com/office/powerpoint/2010/main" val="675926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2026-10-24T10:21:23.9800000Z</dcterms:created>
  <dcterms:modified xsi:type="dcterms:W3CDTF">2026-10-24T10:21:23.9800000Z</dcterms:modified>
</coreProperties>
</file>