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4c521e3393485d" /><Relationship Type="http://schemas.openxmlformats.org/officeDocument/2006/relationships/extended-properties" Target="/docProps/app.xml" Id="R9baa913520444f99" /><Relationship Type="http://schemas.openxmlformats.org/officeDocument/2006/relationships/officeDocument" Target="/ppt/presentation.xml" Id="Rec30d095d05f43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98e3678c034efa"/>
  </p:sldMasterIdLst>
  <p:notesMasterIdLst>
    <p:notesMasterId xmlns:r="http://schemas.openxmlformats.org/officeDocument/2006/relationships" r:id="Rc6924d74b0904a1d"/>
  </p:notesMasterIdLst>
  <p:sldIdLst>
    <p:sldId xmlns:r="http://schemas.openxmlformats.org/officeDocument/2006/relationships" id="256" r:id="R6671eca4da3f4964"/>
    <p:sldId xmlns:r="http://schemas.openxmlformats.org/officeDocument/2006/relationships" id="257" r:id="Rbefad1c1d2d646cf"/>
    <p:sldId xmlns:r="http://schemas.openxmlformats.org/officeDocument/2006/relationships" id="258" r:id="R5fc4f7fd26414118"/>
    <p:sldId xmlns:r="http://schemas.openxmlformats.org/officeDocument/2006/relationships" id="259" r:id="R9c9920fa4aef44aa"/>
    <p:sldId xmlns:r="http://schemas.openxmlformats.org/officeDocument/2006/relationships" id="260" r:id="R0b4388c566cd4e8d"/>
    <p:sldId xmlns:r="http://schemas.openxmlformats.org/officeDocument/2006/relationships" id="261" r:id="R72ebd2ae62bc4eb4"/>
    <p:sldId xmlns:r="http://schemas.openxmlformats.org/officeDocument/2006/relationships" id="262" r:id="R500736f01e0b4eb5"/>
    <p:sldId xmlns:r="http://schemas.openxmlformats.org/officeDocument/2006/relationships" id="263" r:id="R21ee551a18384f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455d76a942403f" /><Relationship Type="http://schemas.openxmlformats.org/officeDocument/2006/relationships/slideMaster" Target="/ppt/slideMasters/slideMaster1.xml" Id="Rc998e3678c034efa" /><Relationship Type="http://schemas.openxmlformats.org/officeDocument/2006/relationships/notesMaster" Target="/ppt/notesMasters/notesMaster1.xml" Id="Rc6924d74b0904a1d" /><Relationship Type="http://schemas.openxmlformats.org/officeDocument/2006/relationships/presProps" Target="/ppt/presProps.xml" Id="R6759360f765848b2" /><Relationship Type="http://schemas.openxmlformats.org/officeDocument/2006/relationships/tableStyles" Target="/ppt/tableStyles.xml" Id="Rd09ef8ce284c4a76" /><Relationship Type="http://schemas.openxmlformats.org/officeDocument/2006/relationships/slide" Target="/ppt/slides/slide1.xml" Id="R6671eca4da3f4964" /><Relationship Type="http://schemas.openxmlformats.org/officeDocument/2006/relationships/slide" Target="/ppt/slides/slide2.xml" Id="Rbefad1c1d2d646cf" /><Relationship Type="http://schemas.openxmlformats.org/officeDocument/2006/relationships/slide" Target="/ppt/slides/slide3.xml" Id="R5fc4f7fd26414118" /><Relationship Type="http://schemas.openxmlformats.org/officeDocument/2006/relationships/slide" Target="/ppt/slides/slide4.xml" Id="R9c9920fa4aef44aa" /><Relationship Type="http://schemas.openxmlformats.org/officeDocument/2006/relationships/slide" Target="/ppt/slides/slide5.xml" Id="R0b4388c566cd4e8d" /><Relationship Type="http://schemas.openxmlformats.org/officeDocument/2006/relationships/slide" Target="/ppt/slides/slide6.xml" Id="R72ebd2ae62bc4eb4" /><Relationship Type="http://schemas.openxmlformats.org/officeDocument/2006/relationships/slide" Target="/ppt/slides/slide7.xml" Id="R500736f01e0b4eb5" /><Relationship Type="http://schemas.openxmlformats.org/officeDocument/2006/relationships/slide" Target="/ppt/slides/slide8.xml" Id="R21ee551a18384f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3fb47b89694a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df9a2e215f467f" /><Relationship Type="http://schemas.openxmlformats.org/officeDocument/2006/relationships/notesMaster" Target="/ppt/notesMasters/notesMaster1.xml" Id="Rccb5f415ad7244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8c0b0433ad43b7" /><Relationship Type="http://schemas.openxmlformats.org/officeDocument/2006/relationships/notesMaster" Target="/ppt/notesMasters/notesMaster1.xml" Id="Rec9066a2f2194c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e148f079854e74" /><Relationship Type="http://schemas.openxmlformats.org/officeDocument/2006/relationships/notesMaster" Target="/ppt/notesMasters/notesMaster1.xml" Id="R16172d414d3c42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35602db4bf4751" /><Relationship Type="http://schemas.openxmlformats.org/officeDocument/2006/relationships/notesMaster" Target="/ppt/notesMasters/notesMaster1.xml" Id="R59e5c20b34a148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6060c9f3734a1b" /><Relationship Type="http://schemas.openxmlformats.org/officeDocument/2006/relationships/notesMaster" Target="/ppt/notesMasters/notesMaster1.xml" Id="Rb735efcf2bce4f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fd0c7b763e454f" /><Relationship Type="http://schemas.openxmlformats.org/officeDocument/2006/relationships/notesMaster" Target="/ppt/notesMasters/notesMaster1.xml" Id="R31b6db2c0b2347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34acaf9fdb4586" /><Relationship Type="http://schemas.openxmlformats.org/officeDocument/2006/relationships/notesMaster" Target="/ppt/notesMasters/notesMaster1.xml" Id="Rbf044226f4d242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5ac75ae2b74717" /><Relationship Type="http://schemas.openxmlformats.org/officeDocument/2006/relationships/notesMaster" Target="/ppt/notesMasters/notesMaster1.xml" Id="Re80d819070a845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README.md; backend/main.py; backend/queue_optimizer.py.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README.md; backend/queue_optimizer.py; backend/data_loader.py.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README.md; backend/data_loader.py.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backend/queue_optimizer.py.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backend/queue_optimizer.py; backend/data_loader.py; frontend/app.js.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backend/ml_predictor.py; backend/main.py.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frontend/index.html; frontend/app.js; backend/main.py; backend/ai_agent.py.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Основание: backend/queue_optimizer.py; backend/ml_predictor.py; README.md. Показатели экономии выводятся из модельных правил и принятых ставок, а не из измерений пилота.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4b5533b4e142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8fe7274501429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30819216b430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94d3c072b44e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647978319d437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239ba0adf64d9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59339-A750-470A-AB26-C6346B2CC7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001D781-F7E5-49EB-9650-35A0DAE84E5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49B59E8-C032-4D71-80B9-A00973C062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D52ED7-8E57-4BC2-9D70-406BF5B8F0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82F78EF-1F4D-453C-A0C2-BB543EF566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31695D3-C025-4104-A78C-E9BFF34B18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D29A6A3-6A10-4CBD-86F4-7E16F27AFA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BA3677F-0523-4871-9ECE-4B08BEE31C6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B5A92E-ECEF-49C3-8CB1-A3A8BB8537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BCD1A98-A15D-4313-8027-1B2AC69E75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1ca651793ac43ac" /><Relationship Type="http://schemas.openxmlformats.org/officeDocument/2006/relationships/slideLayout" Target="/ppt/slideLayouts/slideLayout1.xml" Id="R95c11250223b4ce3" /><Relationship Type="http://schemas.openxmlformats.org/officeDocument/2006/relationships/slideLayout" Target="/ppt/slideLayouts/slideLayout2.xml" Id="Rb70b91ca2beb489b" /><Relationship Type="http://schemas.openxmlformats.org/officeDocument/2006/relationships/slideLayout" Target="/ppt/slideLayouts/slideLayout3.xml" Id="R333d42e21d1d4aae" /><Relationship Type="http://schemas.openxmlformats.org/officeDocument/2006/relationships/slideLayout" Target="/ppt/slideLayouts/slideLayout4.xml" Id="R1bcfe99179c14411" /><Relationship Type="http://schemas.openxmlformats.org/officeDocument/2006/relationships/slideLayout" Target="/ppt/slideLayouts/slideLayout5.xml" Id="Rb1f2c75c307b477f" /><Relationship Type="http://schemas.openxmlformats.org/officeDocument/2006/relationships/slideLayout" Target="/ppt/slideLayouts/slideLayout6.xml" Id="R2205624585e744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c11250223b4ce3"/>
    <p:sldLayoutId xmlns:r="http://schemas.openxmlformats.org/officeDocument/2006/relationships" id="2147483650" r:id="Rb70b91ca2beb489b"/>
    <p:sldLayoutId xmlns:r="http://schemas.openxmlformats.org/officeDocument/2006/relationships" id="2147483651" r:id="R333d42e21d1d4aae"/>
    <p:sldLayoutId xmlns:r="http://schemas.openxmlformats.org/officeDocument/2006/relationships" id="2147483652" r:id="R1bcfe99179c14411"/>
    <p:sldLayoutId xmlns:r="http://schemas.openxmlformats.org/officeDocument/2006/relationships" id="2147483653" r:id="Rb1f2c75c307b477f"/>
    <p:sldLayoutId xmlns:r="http://schemas.openxmlformats.org/officeDocument/2006/relationships" id="2147483654" r:id="R2205624585e744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da9f8619c14aca" /><Relationship Type="http://schemas.openxmlformats.org/officeDocument/2006/relationships/notesSlide" Target="/ppt/notesSlides/notesSlide1.xml" Id="R9388ecd9315040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e193dad9b64d00" /><Relationship Type="http://schemas.openxmlformats.org/officeDocument/2006/relationships/notesSlide" Target="/ppt/notesSlides/notesSlide2.xml" Id="R7df490855ece41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30be0b1d2b4486" /><Relationship Type="http://schemas.openxmlformats.org/officeDocument/2006/relationships/notesSlide" Target="/ppt/notesSlides/notesSlide3.xml" Id="Rd9a04e49f57641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61d6a8edcc4738" /><Relationship Type="http://schemas.openxmlformats.org/officeDocument/2006/relationships/notesSlide" Target="/ppt/notesSlides/notesSlide4.xml" Id="Rf255fcf889ef48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9787f763e14fab" /><Relationship Type="http://schemas.openxmlformats.org/officeDocument/2006/relationships/notesSlide" Target="/ppt/notesSlides/notesSlide5.xml" Id="R525eeafd372c40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5ed64d522e40fc" /><Relationship Type="http://schemas.openxmlformats.org/officeDocument/2006/relationships/notesSlide" Target="/ppt/notesSlides/notesSlide6.xml" Id="R5395b24d494f47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5464df152b41b2" /><Relationship Type="http://schemas.openxmlformats.org/officeDocument/2006/relationships/notesSlide" Target="/ppt/notesSlides/notesSlide7.xml" Id="Rd8570ec3fac242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23cd92ffac4d19" /><Relationship Type="http://schemas.openxmlformats.org/officeDocument/2006/relationships/notesSlide" Target="/ppt/notesSlides/notesSlide8.xml" Id="R4586de1481d54d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994753-AA75-499F-B359-0FA28446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AC452-6444-4D0B-AA3E-6C60E76B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0"/>
            <a:ext cx="3952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535E0-63EF-4919-8E4F-5491F065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3906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015DD-58AA-4632-B638-2176A709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62050"/>
            <a:ext cx="323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C"/>
          </a:solidFill>
          <a:ln xmlns:a="http://schemas.openxmlformats.org/drawingml/2006/main" w="19050">
            <a:solidFill>
              <a:srgbClr val="71819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1D5845-BD4B-4C2A-AA4D-7459F31E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193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B8290-0A33-456A-B080-1C854519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90750"/>
            <a:ext cx="323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C6A5"/>
          </a:solidFill>
          <a:ln xmlns:a="http://schemas.openxmlformats.org/drawingml/2006/main" w="19050">
            <a:solidFill>
              <a:srgbClr val="39C6A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D0C84-B87D-4809-88BC-0893BCD6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480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FCDB0-B28C-4237-A5CA-F00A518F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19450"/>
            <a:ext cx="323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C"/>
          </a:solidFill>
          <a:ln xmlns:a="http://schemas.openxmlformats.org/drawingml/2006/main" w="19050">
            <a:solidFill>
              <a:srgbClr val="71819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F8E1A6-8298-4746-8FC7-7AE3A9EA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76750"/>
            <a:ext cx="247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EFB95-8BE5-4872-813F-5C2C729B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248150"/>
            <a:ext cx="323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B2C"/>
          </a:solidFill>
          <a:ln xmlns:a="http://schemas.openxmlformats.org/drawingml/2006/main" w="19050">
            <a:solidFill>
              <a:srgbClr val="71819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A80AD3-A4F9-463D-94F7-329416AD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476875"/>
            <a:ext cx="2428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4EC44-11C2-407E-A3CF-2A35D6A5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8650"/>
            <a:ext cx="666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CONTROL TOWER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F07D0-D855-4BE5-9208-68D11656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95425"/>
            <a:ext cx="7334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AI-агент управления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логистическими очередями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B6554C-B680-4BF4-ABEC-EA395391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Планирование доков, приоритетов и времени прибытия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7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на основе истории событий доставки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2B8A3-B40D-4964-974D-F368AC57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38675"/>
            <a:ext cx="504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624B16-F52E-4434-BCFC-5A4FD34C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18198"/>
                </a:solidFill>
                <a:latin typeface="Arial"/>
                <a:ea typeface="Arial"/>
                <a:cs typeface="Arial"/>
              </a:rPr>
              <a:t>Проект веб-дашборда и backend-сервиса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76848D-A6D2-4A13-B243-B0B358C5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FastAPI  |  scikit-learn  |  JavaScript</a:t>
            </a:r>
          </a:p>
        </p:txBody>
      </p:sp>
    </p:spTree>
    <p:extLst>
      <p:ext uri="{BB962C8B-B14F-4D97-AF65-F5344CB8AC3E}">
        <p14:creationId xmlns:p14="http://schemas.microsoft.com/office/powerpoint/2010/main" val="8453714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747FB9-C186-4868-AC26-BA9EFD38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8DE12-A966-4A88-822C-A8CD90BE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QUEUE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80EE31-7598-4CAC-BA24-2807221E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Узкое место возникает до дока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C5631-7081-41CC-8736-8300D1A9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12F26-A830-44F8-97D6-F5B87920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FB42C-8C63-4468-A51D-EEAC956C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Несогласованный приезд превращает время в ожидание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A4D9B3-DF2C-4AAB-9C58-B6215C23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852CE-B7EF-47C4-B836-83E8B7BF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6085A-00D8-41A5-8893-A15AE6C3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861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Окно склада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5A360C-C797-4354-87DA-EDEEA0F0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7667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режим работы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не совпадает с ETA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5E5D7-0B8E-4D6C-8DAB-C542E08C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6AAB3-9A43-487E-ACD0-AD7E9E36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962275"/>
            <a:ext cx="11430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AD9500-AA72-4239-90CC-F17E2C6C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5717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8CC2A6-59A7-40DF-B2B5-D7595329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003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B45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A22D7-D029-49C5-A58D-2EA857F8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2861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Поток машин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DC3024-3F86-4FF4-9EEB-9DF0309A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7667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пики и опоздания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сгущаются по часам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529A5A-32B1-49B9-AAAF-51725875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289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AF20E1-5598-4D0F-BEA4-2F02D972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962275"/>
            <a:ext cx="11430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10D34-0E5F-4F22-9DE3-3BCCE05C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C6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54618A-9048-4262-A4C0-406FF6A0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03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9C6A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B6154E-5089-4D4E-882B-4FCA0778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861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Доступные бригады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7A9192-B3AB-46FB-9587-D6D1F02D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7667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часть ворот не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обслуживается одновременно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F706F-2E0D-48DD-BF28-70A2E18B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28950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1CC8D9-6569-4CFD-97D8-5A5DB307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962275"/>
            <a:ext cx="11430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5E5183-3344-4CB8-B7C6-A9A3C907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717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FEB00C-7D97-4F20-9ADF-B49BBC3F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8003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A71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11B05F-8350-4DC9-8C64-8E5C5BE6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Очередь у ворот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649D6F-F6A0-4091-944D-9650133E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876675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простой и риск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срыва SLA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01B26B-E6BA-4DB3-8C20-B8BABB1B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4A6D4B-11DF-4601-97B3-AA208909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435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Задача системы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061DD1-9511-4532-B0EE-F0F1CEDF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198"/>
          </a:bodyPr>
          <a:lstStyle xmlns:a="http://schemas.openxmlformats.org/drawingml/2006/main">
            <a:def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Свести назначение слота, выбор дока и правила приоритета в один сценарий диспетчера.</a:t>
            </a:r>
          </a:p>
        </p:txBody>
      </p:sp>
    </p:spTree>
    <p:extLst>
      <p:ext uri="{BB962C8B-B14F-4D97-AF65-F5344CB8AC3E}">
        <p14:creationId xmlns:p14="http://schemas.microsoft.com/office/powerpoint/2010/main" val="9297947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BCEDE6-1B6F-440A-AABF-4A67C85F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B7B72-50AD-44C0-B331-EDEED94F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QUEUE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08FF6-78AD-4EFC-A3E9-D6D752C7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Единая модель сети опирается на историю рейсов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22135-6B83-44AA-B7A9-7E98EB79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B3B9A-D6E7-4E62-964D-BF1889B9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DEC9-08AC-4DB3-9894-892AB491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Заявленный в README масштаб набора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0B499-1E76-4BF3-B94D-49C12B55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145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C07BF-3A53-4BFF-93FB-16A2F00F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47975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складов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1CA01-83A5-4EB6-BBF5-EF743563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170 820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4E067F-2547-4772-8525-078BA5D7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47975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событий доставки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95BA14-78E9-490B-8359-01E4E74C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145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85 410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7E2BB-3EF4-4DC5-83E8-9190127E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47975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грузов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9C6FE2-0FED-4D09-B012-A9E4CFFA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48050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133C36-BAFC-46F0-8394-9BF21B31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ИСТОЧНИКИ В МОДЕЛИ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B21721-5DA4-43C5-8871-24367B2D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38625"/>
            <a:ext cx="66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EBFBB9-F7CA-496C-9CB5-A8772A9C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005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События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18D586-0BC0-4FFE-966F-16E68388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200525"/>
            <a:ext cx="828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план / факт прибытия, простой, своевременность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FBA804-3F90-4CEF-9305-B1B7829F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57750"/>
            <a:ext cx="66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C6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7A11BE-A78B-4A2D-8DCA-C5088906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96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Справочники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5F98A7-99B0-4576-B68E-D1A38950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819650"/>
            <a:ext cx="828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склады, доки, режим работы, города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7F4971-6168-4AA5-88D9-B888F5A6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76875"/>
            <a:ext cx="666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F84346-2716-4D56-8E47-D5926E66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387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Характеристики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51A0C2-DF41-4BD1-A20C-10E517F2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438775"/>
            <a:ext cx="828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тип груза, контракт, вес и число мест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118324-1345-4C4F-B5E2-196186F7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1000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18198"/>
                </a:solidFill>
                <a:latin typeface="Arial"/>
                <a:ea typeface="Arial"/>
                <a:cs typeface="Arial"/>
              </a:rPr>
              <a:t>Путь к CSV зашит в настройках проекта; сами CSV в репозитории не приложены.</a:t>
            </a:r>
          </a:p>
        </p:txBody>
      </p:sp>
    </p:spTree>
    <p:extLst>
      <p:ext uri="{BB962C8B-B14F-4D97-AF65-F5344CB8AC3E}">
        <p14:creationId xmlns:p14="http://schemas.microsoft.com/office/powerpoint/2010/main" val="16862074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92F371-D14C-45FE-9C78-68E92E2F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A0EDA-E664-4C1A-8706-556B7F4F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QUEUE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9CD1B-DCD3-4012-B0D9-08000B5C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Очередь сортируется по операционному риску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6D1C7-3D96-4A1B-98B2-15A662C1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E893F-74AF-4549-B20E-BDB733D2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D0647E-0854-497C-818C-3C5C9B45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764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Скоринг 15–99 баллов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CB475-06FF-4B22-B458-6AC194FC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Баллы складываются из четырёх факторов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B3239A-092A-40DE-B383-7E364D86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86050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78415-D4FA-43E6-8E70-64E32A9A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Рефрижератор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DB717B-7699-45CA-9A05-91AE66B7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28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r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+34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45CD67-D178-497C-B4A1-D5D80207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6232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C6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3881D-98BF-4ABF-9860-92EF47E9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242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Dedicated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A9360-52FF-491A-9D97-94B0E925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05175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defPPr>
            <a:lvl1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1pPr>
            <a:lvl2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2pPr>
            <a:lvl3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3pPr>
            <a:lvl4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4pPr>
            <a:lvl5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5pPr>
            <a:lvl6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6pPr>
            <a:lvl7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7pPr>
            <a:lvl8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8pPr>
            <a:lvl9pPr algn="r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C6A5"/>
                </a:solidFill>
                <a:latin typeface="Arial"/>
                <a:ea typeface="Arial"/>
                <a:cs typeface="Arial"/>
              </a:rPr>
              <a:t>+24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C702B-8A87-4815-BF4D-8AE05D8A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38600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803158-8916-47C9-B1D4-0CB93D04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Риск задержки / SLA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B06F01-61A1-4DC9-B9CB-9426E169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814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defPPr>
            <a:lvl1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1pPr>
            <a:lvl2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2pPr>
            <a:lvl3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3pPr>
            <a:lvl4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4pPr>
            <a:lvl5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5pPr>
            <a:lvl6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6pPr>
            <a:lvl7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7pPr>
            <a:lvl8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8pPr>
            <a:lvl9pPr algn="r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B45B"/>
                </a:solidFill>
                <a:latin typeface="Arial"/>
                <a:ea typeface="Arial"/>
                <a:cs typeface="Arial"/>
              </a:rPr>
              <a:t>до +26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F78BA4-8280-4E73-8077-7DF6AEAF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14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A8364-C6F0-4C01-9487-97895CF5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767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Ценность и вес груза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4BD8AF-EE57-495B-830C-9205F55D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57725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defPPr>
            <a:lvl1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1pPr>
            <a:lvl2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2pPr>
            <a:lvl3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3pPr>
            <a:lvl4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4pPr>
            <a:lvl5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5pPr>
            <a:lvl6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6pPr>
            <a:lvl7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7pPr>
            <a:lvl8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8pPr>
            <a:lvl9pPr algn="r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A7185"/>
                </a:solidFill>
                <a:latin typeface="Arial"/>
                <a:ea typeface="Arial"/>
                <a:cs typeface="Arial"/>
              </a:rPr>
              <a:t>до +16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E143D1-51BA-49C5-9B8A-D04028B7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743075"/>
            <a:ext cx="9525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903487-F1E4-4C95-B596-D91C8DFD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Уровни приоритета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41A7EC-67A1-418F-B2EB-9603D3FB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764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A7185"/>
                </a:solidFill>
                <a:latin typeface="Arial"/>
                <a:ea typeface="Arial"/>
                <a:cs typeface="Arial"/>
              </a:rPr>
              <a:t>75–99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23FC2-8474-4637-8784-42E243D7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7647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Критический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5D9913-8552-4214-ABAE-CA3B7DAA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71750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Fast-Track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A387C0-6446-4FA4-AE48-13E66BA9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146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8F7537-A744-4169-8DFF-832C76F1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752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B45B"/>
                </a:solidFill>
                <a:latin typeface="Arial"/>
                <a:ea typeface="Arial"/>
                <a:cs typeface="Arial"/>
              </a:rPr>
              <a:t>55–74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72268B-63C7-43DC-8C30-C494ECB4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5752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Высокий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B80465-8663-4F55-8702-F8CA6700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52800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первым к доку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DA2450-3C42-42BE-88CF-BA06A79C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957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3606CC-3886-4DA0-8534-B1EA00EC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385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38–54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A3B040-054E-4BBB-9FEF-783E796D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3857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Стандартный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C16A55-552E-461E-A312-A893788D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33850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обычная очередь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00091D-A761-4A50-932A-7C97CDFA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767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7D563F-48FA-4EF2-B3A9-C0362DF2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15–37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E61A6D-9F71-4B24-9845-CD779998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9625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Гибкий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FABF66-BBB9-4C97-B2FB-2F1BD421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14900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слот с меньшей нагрузкой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DDB0AC-8347-41AD-9ACB-F08F3118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67400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Окончательное назначение ограничено рабочими часами и числом активных доков.</a:t>
            </a:r>
          </a:p>
        </p:txBody>
      </p:sp>
    </p:spTree>
    <p:extLst>
      <p:ext uri="{BB962C8B-B14F-4D97-AF65-F5344CB8AC3E}">
        <p14:creationId xmlns:p14="http://schemas.microsoft.com/office/powerpoint/2010/main" val="16404573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85BDF8-F4A0-4ECC-ABF9-BBF5A935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DC299-931E-4316-9427-84578F8A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QUEUE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919F5-E9E0-4AC1-B270-8208E0A2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Операционный контур: прогноз, назначение, действие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88BA1-C4D8-438D-BFA7-7F960E86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5669B-7BC7-41B4-8431-796574DF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A2478-6BB8-46E4-AB96-CACBC135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1455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679F88-2A7E-4DD4-992F-2C982583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228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2413B-5F17-4A2E-8F92-D020196B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241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Событие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B80D9C-64A9-4D95-9427-14A1A910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Фура прибыла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или задерживается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F62A4-A5CA-473B-B471-BA0F1A87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7000"/>
            <a:ext cx="314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E896B-1918-4400-A055-2AB53C144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0325"/>
            <a:ext cx="11430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E0433F-043A-43EC-87DD-62F66E6C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1455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B45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030768-B75C-4FF0-A2F7-9206844C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67000"/>
            <a:ext cx="228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6AE96D-0081-4231-8A13-24BBCAAD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9241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Оценка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B1C46F-B0E2-4B3F-AF25-212C64D1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00425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Приоритет, ETA,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тип груза и простой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F6150-3069-4485-B351-D12CF7BB4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667000"/>
            <a:ext cx="314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27DADC-3D06-46C1-8E3C-FEABB31B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600325"/>
            <a:ext cx="11430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54277-86ED-4B6F-A8CE-67B1029D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1455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9C6A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4FF209-2608-41AD-9CCB-09C61DC0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67000"/>
            <a:ext cx="228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C6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6BD4B-B6BA-4331-98D2-8A06F448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241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Решение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F53D2-0ABE-4FE2-B475-9DD46289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00425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Док и время в пределах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смены и мощности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26BA34-80A8-453F-A481-B64914A6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667000"/>
            <a:ext cx="3143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13020E-672C-4F2D-A928-AD570EAB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00325"/>
            <a:ext cx="11430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19199C-A4E4-407A-9DFB-B231781C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11455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A71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9453BB-B6A5-4896-86D6-3D00CE1C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667000"/>
            <a:ext cx="228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029244-B520-4773-8365-22A4CA1E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9241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Действие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FAE25F-3550-4A67-B63E-BDDD0C5D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400425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Слот, Fast-Track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или городской хаб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BDD98F-3B9A-4B9C-8B61-8FA765A8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72000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55D538-C914-44AD-83CF-D9D4C310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57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Если склад закрыт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9C0135-3DEC-41E4-A83D-5136E48C0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772025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Перенос в открытое окно или перенаправление в хаб того же города, если найден подходящий кандидат.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79C600-45B5-4938-9072-7B784447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34050"/>
            <a:ext cx="1071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18198"/>
                </a:solidFill>
                <a:latin typeface="Arial"/>
                <a:ea typeface="Arial"/>
                <a:cs typeface="Arial"/>
              </a:rPr>
              <a:t>В демо доступны стресс-сценарий с дополнительными фурами и изменение числа активных бригад.</a:t>
            </a:r>
          </a:p>
        </p:txBody>
      </p:sp>
    </p:spTree>
    <p:extLst>
      <p:ext uri="{BB962C8B-B14F-4D97-AF65-F5344CB8AC3E}">
        <p14:creationId xmlns:p14="http://schemas.microsoft.com/office/powerpoint/2010/main" val="17762636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7ACA6A-D3C0-45DF-AF54-6C2BC520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CE474E-FBAF-4D11-A3FB-DF7430E0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QUEUE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348016-397D-4F2D-8DB0-42D804F7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ML-модуль оценивает простой и предлагает час прибытия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9CB1CF-6752-42B9-8583-20781C33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8DC7B4-D5B4-4524-9DC7-AF61B87D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9691D-B93F-4B97-AF90-03929215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HistGradientBoostingRegressor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062B93-7DE1-4E6C-9BD8-23E64B08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05025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Обучение при запуске сервера на выборке до 45 000 событий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BDAB4-D8EE-47FA-B525-C57AD4C0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527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Склад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4A2AE-523D-4CEF-85DE-1F9D09D3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752725"/>
            <a:ext cx="495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режим работы, число ворот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21B1E-7577-4488-BEDD-78D817FD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2420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3BBB3-3E28-43D7-834C-0FDA1B9A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Груз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AE3B2-D1DD-48E2-87BB-C1366032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52800"/>
            <a:ext cx="495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вес, места, рефрижератор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3F512-8A72-4E1F-9F24-738DDE73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2427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81C0B2-8638-46BB-848C-2DEB5E5A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Рейс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089BB9-BF8D-4303-8827-D6540C8B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952875"/>
            <a:ext cx="495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тип события, контракт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9B6266-6958-441F-A029-D36DD2C0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24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B3F31F-4AD2-4792-913F-BB70ADB1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52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>
            <a:def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Время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B7D9CB-E026-492D-9078-1F403A98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552950"/>
            <a:ext cx="495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час прибытия, день, задержка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5A179B-653A-4283-A2FB-2F09E88B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244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E65071-C55D-45C2-BB09-5A41FFEC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14500"/>
            <a:ext cx="9525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CF95E7-14A2-43F3-98F9-9FF1C9C8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95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Пример сценария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68A926-63C5-413D-A435-35DE471C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669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75" b="1">
                <a:solidFill>
                  <a:srgbClr val="FA718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FA7185"/>
                </a:solidFill>
                <a:latin typeface="Arial"/>
                <a:ea typeface="Arial"/>
                <a:cs typeface="Arial"/>
              </a:rPr>
              <a:t>18:00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C10654-5A24-4FE0-8450-65357EED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24175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пользовательский слот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208E11-BD5B-4DBF-B13B-74A839A5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19475"/>
            <a:ext cx="3762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1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E3593A-95E7-4768-9EDB-0820A82C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3343275"/>
            <a:ext cx="15240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D0A6A6-17DA-4D85-BEAF-84A94E77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24275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defPPr>
            <a:lvl1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1pPr>
            <a:lvl2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2pPr>
            <a:lvl3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3pPr>
            <a:lvl4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4pPr>
            <a:lvl5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5pPr>
            <a:lvl6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6pPr>
            <a:lvl7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7pPr>
            <a:lvl8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8pPr>
            <a:lvl9pPr algn="l"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67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39C6A5"/>
                </a:solidFill>
                <a:latin typeface="Arial"/>
                <a:ea typeface="Arial"/>
                <a:cs typeface="Arial"/>
              </a:rPr>
              <a:t>10:00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3FA98E-D855-4675-84EE-530D4202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815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00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рекомендация модели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5105E3-EF28-454E-900D-EBC7398B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Час выбирается по минимальному прогнозу среди открытых окон.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D121F6-AF86-45EC-B200-CBD75160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18198"/>
                </a:solidFill>
                <a:latin typeface="Arial"/>
                <a:ea typeface="Arial"/>
                <a:cs typeface="Arial"/>
              </a:rPr>
              <a:t>Качество требует отдельной проверки на отложенной выборке: текущая MAE считается на тех же данных, что использовались для обучения.</a:t>
            </a:r>
          </a:p>
        </p:txBody>
      </p:sp>
    </p:spTree>
    <p:extLst>
      <p:ext uri="{BB962C8B-B14F-4D97-AF65-F5344CB8AC3E}">
        <p14:creationId xmlns:p14="http://schemas.microsoft.com/office/powerpoint/2010/main" val="10681219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DD4B9C-672A-41F1-80AE-35C87103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91CEB-C3EF-49AB-9C4C-4D695D7A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QUEUE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D3DAFE-6B54-44B0-A211-4DA7AAF5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754"/>
          </a:bodyPr>
          <a:lstStyle xmlns:a="http://schemas.openxmlformats.org/drawingml/2006/main">
            <a:def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Control Tower объединяет карту сети и рабочее место диспетчера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A5135-20A3-4047-B3A2-A2D3FC47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6DCB1-E5CE-4E5A-9EB8-255672EA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7B386-8D09-4D4B-A664-680CFADE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Сводка сети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08026-F622-4CD9-BFF8-47C58D3E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6954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C6A5"/>
                </a:solidFill>
                <a:latin typeface="Arial"/>
                <a:ea typeface="Arial"/>
                <a:cs typeface="Arial"/>
              </a:rPr>
              <a:t>Очередь склада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5A44CE-026D-4BA7-B27D-2234AE32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954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B45B"/>
                </a:solidFill>
                <a:latin typeface="Arial"/>
                <a:ea typeface="Arial"/>
                <a:cs typeface="Arial"/>
              </a:rPr>
              <a:t>Диалог с агентом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A5ACD-A34F-4261-8772-20373A7E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666875"/>
            <a:ext cx="9525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B37EC0-F290-4EEC-B43A-7BAC55F3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66875"/>
            <a:ext cx="9525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AE849F-964A-4DBA-B2C9-20B04E6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2857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50 объектов сети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средний простой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своевременность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узкие места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5516D-1C18-47FC-A3CD-5B38BD0D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386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Выбор склада по режиму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и текущим показателям.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C764F0-13E7-41BC-8897-87661D05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247900"/>
            <a:ext cx="29527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почасовой профиль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загрузка бригад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таблица рейсов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фильтры по риску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63D91F-49E7-49BB-954F-F7077122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238625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Результат с назначенным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слотом и доком.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12FD1-EC6C-4348-8DAC-F54ED721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47900"/>
            <a:ext cx="3286125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34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запрос обычным языком</a:t>
            </a:r>
          </a:p>
          <a:p xmlns:a="http://schemas.openxmlformats.org/drawingml/2006/main">
            <a:pPr algn="l">
              <a:lnSpc>
                <a:spcPct val="134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вызов инструментов</a:t>
            </a:r>
          </a:p>
          <a:p xmlns:a="http://schemas.openxmlformats.org/drawingml/2006/main">
            <a:pPr algn="l">
              <a:lnSpc>
                <a:spcPct val="134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автономный режим</a:t>
            </a:r>
          </a:p>
          <a:p xmlns:a="http://schemas.openxmlformats.org/drawingml/2006/main">
            <a:pPr algn="l">
              <a:lnSpc>
                <a:spcPct val="134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Gemini / OpenAI / Ollama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F3A07-863D-4964-B615-A9024C75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238625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Ответ синхронизирует выбранный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B3C0D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3C0D2"/>
                </a:solidFill>
                <a:latin typeface="Arial"/>
                <a:ea typeface="Arial"/>
                <a:cs typeface="Arial"/>
              </a:rPr>
              <a:t>склад и снимок оптимизации.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DEB188-9AF3-4F2D-970A-990287B7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8637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82CFAE-8D89-41DE-B1E4-6DE887FD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62600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API: /api/overview  •  /api/optimize  •  /api/predict  •  /api/agent/chat</a:t>
            </a:r>
          </a:p>
        </p:txBody>
      </p:sp>
    </p:spTree>
    <p:extLst>
      <p:ext uri="{BB962C8B-B14F-4D97-AF65-F5344CB8AC3E}">
        <p14:creationId xmlns:p14="http://schemas.microsoft.com/office/powerpoint/2010/main" val="2248337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C79192-06BA-4F13-964A-D1786419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47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D6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C5CE2-40E5-4677-9EDC-012AB390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LOGISTICS QUEUE 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51A39-D2FF-45D2-BEC5-241BB831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06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54"/>
          </a:bodyPr>
          <a:lstStyle xmlns:a="http://schemas.openxmlformats.org/drawingml/2006/main">
            <a:def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7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Эффект показан как сценарий модели, а не как результат пилота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607D18-D3BF-4ACF-A7B4-EB68366B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4D8DD-975B-48DE-8C1A-767A8E28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2937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975" b="1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1819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9E3F8E-DE15-4853-93CC-B4596259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8592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39C6A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9C6A5"/>
                </a:solidFill>
                <a:latin typeface="Arial"/>
                <a:ea typeface="Arial"/>
                <a:cs typeface="Arial"/>
              </a:rPr>
              <a:t>Что уже реализовано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8F9BC-B037-48EB-9B48-ABF167FD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71700"/>
            <a:ext cx="5048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загрузка и агрегация истории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скоринг рейсов и расписание доков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прогноз времени простоя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перенаправление в городской хаб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веб-дашборд и чат агента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AF6C6-D0E1-4182-8CA7-5399A057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95450"/>
            <a:ext cx="9525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CBD847-AC92-4B8F-9E59-89A1113B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8592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FB45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B45B"/>
                </a:solidFill>
                <a:latin typeface="Arial"/>
                <a:ea typeface="Arial"/>
                <a:cs typeface="Arial"/>
              </a:rPr>
              <a:t>Что нужно проверить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5A6B25-D163-48F7-B8FF-A0A3A0C8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71700"/>
            <a:ext cx="5048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качество прогноза на holdout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фактическое время обработки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пропускную способность смен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доступность партнёрских хабов</a:t>
            </a:r>
          </a:p>
          <a:p xmlns:a="http://schemas.openxmlformats.org/drawingml/2006/main">
            <a:pPr algn="l">
              <a:lnSpc>
                <a:spcPct val="138000"/>
              </a:lnSpc>
              <a:buNone/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• стоимость ожидания для бизнеса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FD5A1-108B-4291-9271-32CA862E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100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7A35F-74E1-46DC-A75D-20BF4E15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54D6E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4D6E8"/>
                </a:solidFill>
                <a:latin typeface="Arial"/>
                <a:ea typeface="Arial"/>
                <a:cs typeface="Arial"/>
              </a:rPr>
              <a:t>Рекомендуемый следующий этап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D69AE0-4816-4AC7-95AD-275F642F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Пилот на одном складе: сравнить baseline и рекомендации на одинаковых днях, согласовать ограничения и зафиксировать целевые метрики.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F8421-3563-4F92-A95F-55CA46C6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48375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71819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18198"/>
                </a:solidFill>
                <a:latin typeface="Arial"/>
                <a:ea typeface="Arial"/>
                <a:cs typeface="Arial"/>
              </a:rPr>
              <a:t>Экономия в интерфейсе рассчитывается по условным ставкам ($75/час ожидания и расход топлива на холостом ходу).</a:t>
            </a:r>
          </a:p>
        </p:txBody>
      </p:sp>
    </p:spTree>
    <p:extLst>
      <p:ext uri="{BB962C8B-B14F-4D97-AF65-F5344CB8AC3E}">
        <p14:creationId xmlns:p14="http://schemas.microsoft.com/office/powerpoint/2010/main" val="3530967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2026-10-24T09:10:55.1280000Z</dcterms:created>
  <dcterms:modified xsi:type="dcterms:W3CDTF">2026-10-24T09:10:55.1290000Z</dcterms:modified>
</coreProperties>
</file>