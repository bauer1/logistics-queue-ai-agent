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d111dfe78d456c" /><Relationship Type="http://schemas.openxmlformats.org/officeDocument/2006/relationships/extended-properties" Target="/docProps/app.xml" Id="R635151565ecd4223" /><Relationship Type="http://schemas.openxmlformats.org/officeDocument/2006/relationships/officeDocument" Target="/ppt/presentation.xml" Id="Rbff23171463e45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99891078104c4a"/>
  </p:sldMasterIdLst>
  <p:notesMasterIdLst>
    <p:notesMasterId xmlns:r="http://schemas.openxmlformats.org/officeDocument/2006/relationships" r:id="R5abe9e4c413440fd"/>
  </p:notesMasterIdLst>
  <p:sldIdLst>
    <p:sldId xmlns:r="http://schemas.openxmlformats.org/officeDocument/2006/relationships" id="256" r:id="R59bfce3ab72048e4"/>
    <p:sldId xmlns:r="http://schemas.openxmlformats.org/officeDocument/2006/relationships" id="257" r:id="Rc7bf87dbfd9c4bbc"/>
    <p:sldId xmlns:r="http://schemas.openxmlformats.org/officeDocument/2006/relationships" id="258" r:id="R7477f1f600bc4448"/>
    <p:sldId xmlns:r="http://schemas.openxmlformats.org/officeDocument/2006/relationships" id="259" r:id="R1260a9b30f4d46bf"/>
    <p:sldId xmlns:r="http://schemas.openxmlformats.org/officeDocument/2006/relationships" id="260" r:id="R6c4c4d73a3fd4920"/>
    <p:sldId xmlns:r="http://schemas.openxmlformats.org/officeDocument/2006/relationships" id="261" r:id="R6f35abe71c374856"/>
    <p:sldId xmlns:r="http://schemas.openxmlformats.org/officeDocument/2006/relationships" id="262" r:id="R7ce782610ecb4f98"/>
    <p:sldId xmlns:r="http://schemas.openxmlformats.org/officeDocument/2006/relationships" id="263" r:id="R5a80c3f8ced34813"/>
    <p:sldId xmlns:r="http://schemas.openxmlformats.org/officeDocument/2006/relationships" id="264" r:id="R2a1a8db974734898"/>
    <p:sldId xmlns:r="http://schemas.openxmlformats.org/officeDocument/2006/relationships" id="265" r:id="R0f71fcb0c048477f"/>
    <p:sldId xmlns:r="http://schemas.openxmlformats.org/officeDocument/2006/relationships" id="266" r:id="R0b9c5c94b5a449e8"/>
    <p:sldId xmlns:r="http://schemas.openxmlformats.org/officeDocument/2006/relationships" id="267" r:id="R250a4aa6e4ca491c"/>
    <p:sldId xmlns:r="http://schemas.openxmlformats.org/officeDocument/2006/relationships" id="268" r:id="Rd500c46161e243a7"/>
    <p:sldId xmlns:r="http://schemas.openxmlformats.org/officeDocument/2006/relationships" id="269" r:id="Rbad3c92833884d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a9c221614b4348" /><Relationship Type="http://schemas.openxmlformats.org/officeDocument/2006/relationships/slideMaster" Target="/ppt/slideMasters/slideMaster1.xml" Id="R3499891078104c4a" /><Relationship Type="http://schemas.openxmlformats.org/officeDocument/2006/relationships/notesMaster" Target="/ppt/notesMasters/notesMaster1.xml" Id="R5abe9e4c413440fd" /><Relationship Type="http://schemas.openxmlformats.org/officeDocument/2006/relationships/presProps" Target="/ppt/presProps.xml" Id="Red700745fa684730" /><Relationship Type="http://schemas.openxmlformats.org/officeDocument/2006/relationships/tableStyles" Target="/ppt/tableStyles.xml" Id="Rca5b9c9fd1364865" /><Relationship Type="http://schemas.openxmlformats.org/officeDocument/2006/relationships/slide" Target="/ppt/slides/slide1.xml" Id="R59bfce3ab72048e4" /><Relationship Type="http://schemas.openxmlformats.org/officeDocument/2006/relationships/slide" Target="/ppt/slides/slide2.xml" Id="Rc7bf87dbfd9c4bbc" /><Relationship Type="http://schemas.openxmlformats.org/officeDocument/2006/relationships/slide" Target="/ppt/slides/slide3.xml" Id="R7477f1f600bc4448" /><Relationship Type="http://schemas.openxmlformats.org/officeDocument/2006/relationships/slide" Target="/ppt/slides/slide4.xml" Id="R1260a9b30f4d46bf" /><Relationship Type="http://schemas.openxmlformats.org/officeDocument/2006/relationships/slide" Target="/ppt/slides/slide5.xml" Id="R6c4c4d73a3fd4920" /><Relationship Type="http://schemas.openxmlformats.org/officeDocument/2006/relationships/slide" Target="/ppt/slides/slide6.xml" Id="R6f35abe71c374856" /><Relationship Type="http://schemas.openxmlformats.org/officeDocument/2006/relationships/slide" Target="/ppt/slides/slide7.xml" Id="R7ce782610ecb4f98" /><Relationship Type="http://schemas.openxmlformats.org/officeDocument/2006/relationships/slide" Target="/ppt/slides/slide8.xml" Id="R5a80c3f8ced34813" /><Relationship Type="http://schemas.openxmlformats.org/officeDocument/2006/relationships/slide" Target="/ppt/slides/slide9.xml" Id="R2a1a8db974734898" /><Relationship Type="http://schemas.openxmlformats.org/officeDocument/2006/relationships/slide" Target="/ppt/slides/slide10.xml" Id="R0f71fcb0c048477f" /><Relationship Type="http://schemas.openxmlformats.org/officeDocument/2006/relationships/slide" Target="/ppt/slides/slide11.xml" Id="R0b9c5c94b5a449e8" /><Relationship Type="http://schemas.openxmlformats.org/officeDocument/2006/relationships/slide" Target="/ppt/slides/slide12.xml" Id="R250a4aa6e4ca491c" /><Relationship Type="http://schemas.openxmlformats.org/officeDocument/2006/relationships/slide" Target="/ppt/slides/slide13.xml" Id="Rd500c46161e243a7" /><Relationship Type="http://schemas.openxmlformats.org/officeDocument/2006/relationships/slide" Target="/ppt/slides/slide14.xml" Id="Rbad3c92833884d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f4957d65764a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31aa4691c845ff" /><Relationship Type="http://schemas.openxmlformats.org/officeDocument/2006/relationships/notesMaster" Target="/ppt/notesMasters/notesMaster1.xml" Id="R3e77ab737d4d42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ee0260702541b2" /><Relationship Type="http://schemas.openxmlformats.org/officeDocument/2006/relationships/notesMaster" Target="/ppt/notesMasters/notesMaster1.xml" Id="R8657b395f5104f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0e412d819e430e" /><Relationship Type="http://schemas.openxmlformats.org/officeDocument/2006/relationships/notesMaster" Target="/ppt/notesMasters/notesMaster1.xml" Id="Rfc5c95c67b4d4b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54e270a12c47f9" /><Relationship Type="http://schemas.openxmlformats.org/officeDocument/2006/relationships/notesMaster" Target="/ppt/notesMasters/notesMaster1.xml" Id="R82574378ea1f45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bf7f0693fb48f7" /><Relationship Type="http://schemas.openxmlformats.org/officeDocument/2006/relationships/notesMaster" Target="/ppt/notesMasters/notesMaster1.xml" Id="R6cca1cbb0b8b40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2d276556ab41c1" /><Relationship Type="http://schemas.openxmlformats.org/officeDocument/2006/relationships/notesMaster" Target="/ppt/notesMasters/notesMaster1.xml" Id="Rd6694e3d18c247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d6a5e936eb463a" /><Relationship Type="http://schemas.openxmlformats.org/officeDocument/2006/relationships/notesMaster" Target="/ppt/notesMasters/notesMaster1.xml" Id="R633af6e276f441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01ea8b24b04faf" /><Relationship Type="http://schemas.openxmlformats.org/officeDocument/2006/relationships/notesMaster" Target="/ppt/notesMasters/notesMaster1.xml" Id="Rd3b7ef5040a747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00865e8fa448fd" /><Relationship Type="http://schemas.openxmlformats.org/officeDocument/2006/relationships/notesMaster" Target="/ppt/notesMasters/notesMaster1.xml" Id="Rcc7d720b2b024c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3ba69b939448d9" /><Relationship Type="http://schemas.openxmlformats.org/officeDocument/2006/relationships/notesMaster" Target="/ppt/notesMasters/notesMaster1.xml" Id="Rce4054cf4bbe4a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260fb68c304055" /><Relationship Type="http://schemas.openxmlformats.org/officeDocument/2006/relationships/notesMaster" Target="/ppt/notesMasters/notesMaster1.xml" Id="R14ace1b06ef74a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f686fd107e4a7b" /><Relationship Type="http://schemas.openxmlformats.org/officeDocument/2006/relationships/notesMaster" Target="/ppt/notesMasters/notesMaster1.xml" Id="Rd4e68022d94148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42a286d98f444a" /><Relationship Type="http://schemas.openxmlformats.org/officeDocument/2006/relationships/notesMaster" Target="/ppt/notesMasters/notesMaster1.xml" Id="R577b49e86df040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1ea26ff9674632" /><Relationship Type="http://schemas.openxmlformats.org/officeDocument/2006/relationships/notesMaster" Target="/ppt/notesMasters/notesMaster1.xml" Id="Rda1223b6cbaa4e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README.md; backend/main.py; backend/queue_optimizer.py.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ATA Economics and Industry Data (2024 estimates); FHWA, Our Nation’s Highways 2026, Freight Travel. Источники: https://www.trucking.org/economics-and-industry-data ; https://www.fhwa.dot.gov/policyinformation/pubs/our_nations_highways_2026/travel.cfm. Доля ATA 72,7% и 11,27 млрд тонн относятся к оценке ATA для 2024 года; FHWA сообщает 65% и 13,1 млрд тонн по Freight Analysis Framework за 2023 год. Методики и периоды различаются.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README.md; backend/queue_optimizer.py; backend/data_loader.py.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README.md; backend/data_loader.py.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backend/queue_optimizer.py.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backend/queue_optimizer.py; backend/data_loader.py; frontend/app.js.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backend/ml_predictor.py; backend/main.py.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backend/ml_predictor.py. Формула и свойства распределения: NIST/SEMATECH Engineering Statistics Handbook, https://www.itl.nist.gov/div898/handbook/apr/section1/apr165.htm. Гамма-распределение не реализовано в текущем коде.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backend/ml_predictor.py; backend/data_loader.py. Формула метода моментов и свойства Gamma: NIST/SEMATECH Engineering Statistics Handbook, https://www.itl.nist.gov/div898/handbook/apr/section1/apr165.htm. Это предлагаемый метод, не реализация текущего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Руководство_AI_Агент_Логистика.pdf, стр. 2; backend/ml_predictor.py. Теоретическое расширение, не текущая реализация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Руководство_AI_Агент_Логистика.pdf, стр. 3–4. Результаты приведены в документе как сценарий AI; проверка в пилоте не описана.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Руководство_AI_Агент_Логистика.pdf, стр. 4–5. Результаты приведены в документе как сценарий AI; проверка в пилоте не описана.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frontend/index.html; frontend/app.js; backend/main.py; backend/ai_agent.py.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backend/queue_optimizer.py; backend/ml_predictor.py; README.md. Показатели экономии выводятся из модельных правил и принятых ставок, а не из измерений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51f907876f45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2eb9728d64c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7bc46a1f742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94da13fdc4c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a16ff9b9044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f380de2b4f4d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2D74CC-BA93-429D-A701-4098A5637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D9B8E5-EE12-4FE4-9155-594BB63731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0EE043-CD7B-43D1-8170-1ED50951A4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160EC6-C70E-4DE1-A94E-5A9CF91539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B7A9D8-C01C-455D-BCBC-DF0EF8E3B5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950488-F387-4FD9-8487-5EBB3CC639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B21C14-B3D0-4571-9DA6-09B474EC0E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DCEA72-AD0E-48D4-9449-5ACB61C3EA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45D567-2696-4BF7-B8B0-57FA2838B1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6033D8-6EE2-4F84-A34E-1980F157A5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7320cfb6ba4852" /><Relationship Type="http://schemas.openxmlformats.org/officeDocument/2006/relationships/slideLayout" Target="/ppt/slideLayouts/slideLayout1.xml" Id="Ra40c8e455caf4550" /><Relationship Type="http://schemas.openxmlformats.org/officeDocument/2006/relationships/slideLayout" Target="/ppt/slideLayouts/slideLayout2.xml" Id="R446e7750281a4b7a" /><Relationship Type="http://schemas.openxmlformats.org/officeDocument/2006/relationships/slideLayout" Target="/ppt/slideLayouts/slideLayout3.xml" Id="Re570ed3388e04290" /><Relationship Type="http://schemas.openxmlformats.org/officeDocument/2006/relationships/slideLayout" Target="/ppt/slideLayouts/slideLayout4.xml" Id="R91585a1370c9429a" /><Relationship Type="http://schemas.openxmlformats.org/officeDocument/2006/relationships/slideLayout" Target="/ppt/slideLayouts/slideLayout5.xml" Id="R31a7bc3b04004536" /><Relationship Type="http://schemas.openxmlformats.org/officeDocument/2006/relationships/slideLayout" Target="/ppt/slideLayouts/slideLayout6.xml" Id="R7c5060c654524b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0c8e455caf4550"/>
    <p:sldLayoutId xmlns:r="http://schemas.openxmlformats.org/officeDocument/2006/relationships" id="2147483650" r:id="R446e7750281a4b7a"/>
    <p:sldLayoutId xmlns:r="http://schemas.openxmlformats.org/officeDocument/2006/relationships" id="2147483651" r:id="Re570ed3388e04290"/>
    <p:sldLayoutId xmlns:r="http://schemas.openxmlformats.org/officeDocument/2006/relationships" id="2147483652" r:id="R91585a1370c9429a"/>
    <p:sldLayoutId xmlns:r="http://schemas.openxmlformats.org/officeDocument/2006/relationships" id="2147483653" r:id="R31a7bc3b04004536"/>
    <p:sldLayoutId xmlns:r="http://schemas.openxmlformats.org/officeDocument/2006/relationships" id="2147483654" r:id="R7c5060c654524b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22ec7366a444e2" /><Relationship Type="http://schemas.openxmlformats.org/officeDocument/2006/relationships/notesSlide" Target="/ppt/notesSlides/notesSlide1.xml" Id="Rd2055f529fd644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908025c12f430b" /><Relationship Type="http://schemas.openxmlformats.org/officeDocument/2006/relationships/notesSlide" Target="/ppt/notesSlides/notesSlide2.xml" Id="Rb0e0a014b98947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f7e400a8f54bfc" /><Relationship Type="http://schemas.openxmlformats.org/officeDocument/2006/relationships/notesSlide" Target="/ppt/notesSlides/notesSlide3.xml" Id="Rff74fc075d7049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a81978d99a4972" /><Relationship Type="http://schemas.openxmlformats.org/officeDocument/2006/relationships/notesSlide" Target="/ppt/notesSlides/notesSlide4.xml" Id="Rfc8dfb26046643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aceb9060f442d9" /><Relationship Type="http://schemas.openxmlformats.org/officeDocument/2006/relationships/notesSlide" Target="/ppt/notesSlides/notesSlide5.xml" Id="R1a4691f881fc49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d65e70757e4c6c" /><Relationship Type="http://schemas.openxmlformats.org/officeDocument/2006/relationships/notesSlide" Target="/ppt/notesSlides/notesSlide6.xml" Id="R89ee4c57ee764f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3ab6240c8c464f" /><Relationship Type="http://schemas.openxmlformats.org/officeDocument/2006/relationships/notesSlide" Target="/ppt/notesSlides/notesSlide7.xml" Id="R975e67373ec34a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700d0ad9d44775" /><Relationship Type="http://schemas.openxmlformats.org/officeDocument/2006/relationships/notesSlide" Target="/ppt/notesSlides/notesSlide8.xml" Id="R0ce00471fad14a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648f8f04784b73" /><Relationship Type="http://schemas.openxmlformats.org/officeDocument/2006/relationships/notesSlide" Target="/ppt/notesSlides/notesSlide9.xml" Id="R004e8ee4d8a342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ae7d845dab48f9" /><Relationship Type="http://schemas.openxmlformats.org/officeDocument/2006/relationships/notesSlide" Target="/ppt/notesSlides/notesSlide10.xml" Id="Rd31ed7b91ae84a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f673b59b8643c1" /><Relationship Type="http://schemas.openxmlformats.org/officeDocument/2006/relationships/notesSlide" Target="/ppt/notesSlides/notesSlide11.xml" Id="Ra017397e894248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f9910fde564a6c" /><Relationship Type="http://schemas.openxmlformats.org/officeDocument/2006/relationships/notesSlide" Target="/ppt/notesSlides/notesSlide12.xml" Id="R59b3cdd9326c49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7654cbd64d4e27" /><Relationship Type="http://schemas.openxmlformats.org/officeDocument/2006/relationships/notesSlide" Target="/ppt/notesSlides/notesSlide13.xml" Id="R856f32d5531842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3f5b78c4c4af6" /><Relationship Type="http://schemas.openxmlformats.org/officeDocument/2006/relationships/notesSlide" Target="/ppt/notesSlides/notesSlide14.xml" Id="Rc564d04bcff045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6E934-D4AA-4755-B1DD-EBEE57F1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E4523-5EB7-400C-B3C8-416502F2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0"/>
            <a:ext cx="395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56D1A-AD6B-4C1B-9605-C7D7DFEA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906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BAE02-1159-4938-80E0-1CEB951C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620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C42DB-0F53-4B5D-82BC-42B46778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5B6AB-D0E2-4915-87FF-4BBB72A7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19050">
            <a:solidFill>
              <a:srgbClr val="39C6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88240-9F76-41BD-AEAD-C8D021D0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480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BDBC1-5C77-4D18-89C1-262F5F87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194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08068-BAED-4086-8496-1E4BF347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204C9-25CF-4104-B0BE-6CE51FC3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481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5F9A7-716C-4949-AB4C-709C03EA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A5CA7-CF24-484C-B571-EC6F5107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CONTROL TOWER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598AE-4B26-4005-A5D4-7DDC892F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733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AI-агент управления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логистическими очередями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7AFE1-C3EB-43D7-8042-DC47E3BB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676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Планирование доков, приоритетов и времени прибытия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на основе истории событий доставки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156EF-95A3-42DE-AB7D-B12D44EA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4455C-427F-4775-9577-964460F4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Проект веб-дашборда и backend-сервиса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6BD66-E49D-41AC-8971-92BBECEF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FastAPI  |  scikit-learn  |  JavaScript</a:t>
            </a:r>
          </a:p>
        </p:txBody>
      </p:sp>
    </p:spTree>
    <p:extLst>
      <p:ext uri="{BB962C8B-B14F-4D97-AF65-F5344CB8AC3E}">
        <p14:creationId xmlns:p14="http://schemas.microsoft.com/office/powerpoint/2010/main" val="849851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F97A7D-9F32-4E2D-B8E1-AA934B99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C2507-F3CF-4AF4-A19C-E7CEF5F3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49870-7C94-487E-9BE9-FD7A5494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Грузовики перевозят почти три четверти грузов США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1C0D6-A892-4473-B71F-74B2C2CE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20DA6-6621-4572-8CF5-6AB3D499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2A539-9DE9-4979-9BAC-C16D3E6E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Масштаб отрасли в 2024 году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FCA34-AFFD-4493-8C0D-7A51134E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3286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72,7%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B1EFD-11F8-46E2-8375-2DB3EA6D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доли внутреннего груза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по весу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5C2AF-16C0-48D3-9352-55754FB8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00275"/>
            <a:ext cx="3286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11,27 млрд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1AA7B-2A21-4B08-8129-C919D619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76550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тонн перевезено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D79D6-765D-4011-85A1-B7F6D472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0275"/>
            <a:ext cx="3286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$906 млрд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5E1C4-7432-4A43-9A80-60A2A753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76550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выручка грузоперевозок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2710B-0E29-48BC-9A9E-318A0FE3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BFBCD-3963-42C1-9EFA-610F1338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От магистрали к доку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FB9BC-25A8-4752-B3BA-A15722B8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B37CD-7D27-47CF-BD7C-778EF21C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Поставщик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537AE-DE89-44A0-B3B4-2D8A8FC1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529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2123C-8737-4641-A960-B191D1DE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86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54E1F-590E-45A8-ABC5-9F798733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9DFE1-4F5C-4BAA-A46F-BEC8FF6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Автомагистраль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CE89EF-BBF8-4AD3-AF4A-9D390AC6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529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1568A9-6F99-4E98-841A-33E911EC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86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EB6BC-3BC9-41D5-91E3-CAA16279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5295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F2110-AB62-4B93-AAAF-BEF3A362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244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Распределительный центр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B5BFE9-C28F-436C-B550-C9E94FFC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529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81F4E5-78E1-49A2-BA76-546B4616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86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E280E-8A27-4D36-8645-94382E4F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5295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8934D-AA93-42CB-94A8-DD4195CA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244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Магазин / производство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DE8AC7-9A97-427B-90F0-6B6052ED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4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У ворот грузы встречаются с ограниченными окнами работы и числом доков. Здесь возникают очереди, простой и риск срыва SLA.</a:t>
            </a:r>
          </a:p>
        </p:txBody>
      </p:sp>
    </p:spTree>
    <p:extLst>
      <p:ext uri="{BB962C8B-B14F-4D97-AF65-F5344CB8AC3E}">
        <p14:creationId xmlns:p14="http://schemas.microsoft.com/office/powerpoint/2010/main" val="151055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BEB76B-EA52-4E89-8D5B-5FF4C3C9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DB277-D744-436E-AC75-89ABB546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2F875-5190-41B5-9CD3-EAEA61D7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Узкое место возникает до дока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C55CF-73F2-44BC-975F-966E21CD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17934-77CD-4386-9F74-A59600A3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5D4A3-4AC6-471B-9B0B-C21EA29C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Несогласованный приезд превращает время в ожидание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7E5B6-4CF0-483D-858F-E335052B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022F0-019F-4D2D-BBA7-9D645274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79D4B-9EC2-42D7-8AB0-9518EC96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Окно склада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F3C27-F653-4C4F-A480-EB97258C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режим работы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не совпадает с 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22945-939D-4D97-A887-11C4CC07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40E4B-3AFF-4C6A-B796-F40A7890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62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FBE67-98BE-44CB-857E-E3F71C99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9335F-50E3-4568-8008-FEEA62BB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00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E23E3-D79B-4C3A-9E75-B6D1F80F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Поток машин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FB15A-10B0-4519-BB0A-4C08AB84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766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пики и опоздания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сгущаются по часам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64CA8-0FB2-47A3-B962-B6C8AE44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28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0664E0-0595-4F28-8103-CD72124D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62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13DE8C-4896-46FA-A122-D01780F7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EF2C71-E458-4C27-898E-57C7B827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B7F546-DE95-4220-A649-4DC70DF5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Доступные бригады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70855-2630-4F39-9FEC-E485FDBC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766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часть ворот не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обслуживается одновременно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7CAD1-C61C-4E05-9D63-FB25D679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1F162E-D685-41DC-B210-7B4BC3B4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62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EEA4AD-0C4A-4DF1-9C00-8ED95169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71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EE83E1-7B0A-471B-91F7-7C7BB135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00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A2694B-6A91-4DCC-9C7C-BDF6AD45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Очередь у ворот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195B24-EAEB-45B7-BD68-FB9B547E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766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простой и риск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срыва SLA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EA13B5-BF88-4753-BE89-61FA1E2A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D66D10-4ED6-498E-8446-9690F06C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3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Задача системы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3BEF60-151D-4F81-8743-31CB0181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198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Свести назначение слота, выбор дока и правила приоритета в один сценарий диспетчера.</a:t>
            </a:r>
          </a:p>
        </p:txBody>
      </p:sp>
    </p:spTree>
    <p:extLst>
      <p:ext uri="{BB962C8B-B14F-4D97-AF65-F5344CB8AC3E}">
        <p14:creationId xmlns:p14="http://schemas.microsoft.com/office/powerpoint/2010/main" val="18220922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10F2DC-6B73-48BD-8B8E-54C778AD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F9C8C-00C3-4AE3-9A18-0DAE14C7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1786E-5FB9-4799-A450-950FAB5D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Единая модель сети опирается на историю рейсов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F4275-3A64-42C8-A38C-4FF49269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5942D-9168-486C-9E83-EE47C406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18337-3A01-4217-8B62-32B3EABB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Заявленный в README масштаб набора данных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E0212-DEC9-4EA6-8A15-FA141EDD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D5765-5140-44E7-A9F2-4DF22B5E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складов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C288E-D7E9-41AB-A137-7A88E3B5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14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170 820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AE34A-2A12-4D91-8F2E-11D3B4AC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47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событий доставки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ABFBB-A0D6-4FEB-8565-0F007EEA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85 410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406AC-CB41-4ACA-83C8-0A7C66BB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47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грузов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95593-F706-43BF-A01F-02EBFBE3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34F06-E288-418E-BACC-2A089DD6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ИСТОЧНИКИ В МОДЕЛИ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ADEEA-69D6-46B9-B804-03D077D6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74499-FE1D-40BA-A944-CBADE552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005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События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AD2C6-4A37-4D60-B30B-856433AE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0052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план / факт прибытия, простой, своевременность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1D3A5-F61F-40E5-9E52-CF70FEE1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B03A34-AF61-4671-85C4-938AFD63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Справочники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40684-8AF5-4344-8C82-13646C5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819650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склады, доки, режим работы, города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463EB4-7E9A-4508-B246-40A86484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7BBEC-4FC7-499B-8EC2-D728B9B0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Характеристики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053555-4B63-402B-8DBC-7697A086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43877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тип груза, контракт, вес и число мест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35D134-5C61-4AB5-A99A-AF87B21A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Путь к CSV зашит в настройках проекта; сами CSV в репозитории не приложены.</a:t>
            </a:r>
          </a:p>
        </p:txBody>
      </p:sp>
    </p:spTree>
    <p:extLst>
      <p:ext uri="{BB962C8B-B14F-4D97-AF65-F5344CB8AC3E}">
        <p14:creationId xmlns:p14="http://schemas.microsoft.com/office/powerpoint/2010/main" val="992347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A08FC4-A41F-43FC-A011-72F20EE1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9FF75-C92E-4A5F-98FF-B49F7496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771FC-9123-412B-AA4A-FFDE4E2B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Очередь сортируется по операционному риску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6B20F-1BD7-4D80-8A70-923E02EB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30168-A58E-4AD8-A421-B1E870C7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AC7D5-2FDC-4C20-B324-CBF72385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Скоринг 15–99 баллов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20C19-5C19-4B2F-9388-9A05A44C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Баллы складываются из четырёх факторов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D2243-BFD4-4F0B-A27C-68F1DF75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6FF2C-E0C8-4BD1-BE77-5A2C72CE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Рефрижератор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E113D-5CF5-4483-A186-D51C4995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28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+34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A7AB3-001E-4228-A402-86794D2D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1160F-336A-4C7F-8BA2-E198B2FA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Dedicated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BD32F-EB51-4B6C-A3D6-67DF0EF2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051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+24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8E882-E9FF-454A-8909-82DE45B5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9723D-A8B8-425E-B93E-7D6BDDB2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Риск задержки / SLA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32FAB-4700-45ED-AB2B-D954B331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81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до +26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F191A-4678-436B-9C3D-2E4E9A4B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14875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5556C-D83C-415D-AE32-F67D5F4F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Ценность и вес груза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E79B8-3417-4AD1-B06C-802462EC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577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до +16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86DAA-80C2-4623-BB8A-B3E4BF06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43075"/>
            <a:ext cx="9525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F6433-3C1E-4572-BF65-F2E2EEDA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Уровни приоритета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1CACA-6C0B-4DCE-8B7D-3C6BBE25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764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75–99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6AB03-62D4-4150-80A3-FE563043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764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Критический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3C3199-B9A5-416A-B2FB-A4D89276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Fast-Track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16E179-A9C9-4ECF-B7C2-B1F4766C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6008FF-0940-470F-B250-4ABD423E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55–74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F525E6-1F53-4314-BB38-847B3797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575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Высокий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F74643-A12D-477A-83E5-D08E9427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первым к доку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160C2E-046F-4A80-BEF3-2F5CC02F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643DE2-D54E-49F8-8B11-F5B6C71F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385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38–54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5E625F-5628-4D76-A12F-E396C121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385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Стандартный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587343-6193-4A9C-B07B-83BDEFCC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3385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обычная очередь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00766C-2AF7-44C2-B25C-1522CA0D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9E9A7C-00DB-4F85-9906-664DB0E3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15–37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2FC895-EE9D-4D66-83A0-5E5016B6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96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Гибкий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C5EC69-9F98-4CD9-83FB-BD8A23FF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слот с меньшей нагрузкой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183B11-3CE5-4791-A980-F741F680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Окончательное назначение ограничено рабочими часами и числом активных доков.</a:t>
            </a:r>
          </a:p>
        </p:txBody>
      </p:sp>
    </p:spTree>
    <p:extLst>
      <p:ext uri="{BB962C8B-B14F-4D97-AF65-F5344CB8AC3E}">
        <p14:creationId xmlns:p14="http://schemas.microsoft.com/office/powerpoint/2010/main" val="1001418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BE3B3F-5376-4960-BA55-94BDA2B2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92BEC-E50D-4E45-840D-E5CFDEC7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5180F-770F-44FA-BDB9-A91F7B98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Операционный контур: прогноз, назначение, действие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69844-554C-407C-BC7D-7FE44E1D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9D25C-B130-475E-9B5C-6843368D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5B85F-28A6-4EFC-940A-5AC898D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06EF9-83C4-4CFD-9523-07B6CC4F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5063B-E9F4-48E7-B3F0-F38E3AB8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24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Событие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2E2AC-B449-4C01-9FA8-3DC84B3C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Фура прибыла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или задерживается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1364F-FA49-438F-A72B-549959BD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6700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C270D-FB8C-4603-91AD-7503ECAF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032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1C61C-3BD7-4DA9-B0F5-173CFCAF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14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F52F0-D8B3-4013-823B-321040D2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670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C38DC-D6FC-49ED-B746-ABD8A94F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24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C19B2-7DE9-436B-BB77-0CE5F8CE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004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Приоритет, ETA,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тип груза и простой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67BF0-55DD-4E76-B660-7D9DE370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62B1A-BD59-4FEB-8EFD-C704C9A6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60032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A0CD6-7EE0-45EC-BC66-B1150842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FF791F-B6E6-424B-8648-7AFD0B77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A2128-301B-4466-942F-90D05E68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24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63519-5AFC-4F8A-B47C-6D8CF30F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04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Док и время в пределах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смены и мощности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A7E57A-9F54-41AD-885A-141F4284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6700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1FCA7-B7F6-43BF-8A49-D53C14D6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0032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8999FB-8490-4F68-97BE-753A52B2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14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0CB050-453C-44BA-9106-5E3555A5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670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0D520C-30DB-4BA5-9498-27BB4AB7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924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Действие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9DB1C6-02BE-4C05-9A58-ADA835A5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004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Слот, Fast-Track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или городской хаб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DED331-3AA0-4664-B355-1F95CD46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542F25-D519-4619-A340-3A18024D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Если склад закрыт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585581-B44B-4F9B-83E7-882D565D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7202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Перенос в открытое окно или перенаправление в хаб того же города, если найден подходящий кандидат.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F43147-0AA4-4601-A402-6DBB1214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34050"/>
            <a:ext cx="1071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В демо доступны стресс-сценарий с дополнительными фурами и изменение числа активных бригад.</a:t>
            </a:r>
          </a:p>
        </p:txBody>
      </p:sp>
    </p:spTree>
    <p:extLst>
      <p:ext uri="{BB962C8B-B14F-4D97-AF65-F5344CB8AC3E}">
        <p14:creationId xmlns:p14="http://schemas.microsoft.com/office/powerpoint/2010/main" val="10839144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3FC9A4-6B45-41C4-90C4-9EEF232B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22119-046E-4468-9E11-A3DC0AEA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47EC5-4224-47FF-A419-C36703E6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ML-модуль оценивает простой и предлагает час прибытия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06C9D-A305-4BC9-B087-3B317623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AF7E9-1223-4A17-972A-38867E6D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37119-DE75-4C16-9B27-E50F3061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HistGradientBoostingRegressor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69CD4-01B0-4FE1-80D3-8414479E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0502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Обучение при запуске сервера на выборке до 45 000 событий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0998D-91D5-4DFF-8697-C2507C86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Склад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363BA-E84D-4C2B-9BC4-6D3DF36E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5272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режим работы, число ворот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706E2-51C6-44E6-9595-D7025C21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E6039-4A10-4CE7-A0F9-D5FFB4D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Груз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2DD24-3C51-4785-A889-D1328C9B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52800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вес, места, рефрижератор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82AFC-12D6-426F-89F1-453E8FB6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FD5C3-D01A-4E58-B982-22E489AA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Рейс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3C5D6-555B-44EA-88F1-FB1D1363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528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тип события, контракт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4138E-EBC5-4486-8DFF-0DC5B90E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AABB9-7C94-4AF6-94C1-49549000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0F9B5-A3C9-482B-AF3F-214FA06C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52950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час прибытия, день, задержка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CA742-1F0B-483F-976E-8F06EACD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244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A1099-F49E-476C-8C92-93D7513E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1450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E0ED81-EB6F-4EE1-8218-7B97B0A0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 сценария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62FE74-20EB-4E21-8191-0D153654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18:00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BF8CF-9F3E-4DE0-9817-86C6EC5A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241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пользовательский слот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65E9DC-CD19-4406-9743-0C3DDD64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19475"/>
            <a:ext cx="376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D3DD4A-8D17-47F2-A38C-007DD09B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3432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57452C-6145-4228-AB92-FD0C839E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24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10:00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B318BD-9376-407C-8D47-03536D42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815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рекомендация модели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508AF7-5FEE-4A40-83D8-39FFB9CA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Час выбирается по минимальному прогнозу среди открытых окон.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0C4588-464C-4BD0-B103-B2C94C05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Качество требует отдельной проверки на отложенной выборке: текущая MAE считается на тех же данных, что использовались для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12979562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AE4336-59F2-4E5B-848A-BA135DCF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DBB6D-C9CB-46F5-AB38-A3184B56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5E192-27FF-45EE-B7FB-A4E3100F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Гамма-распределение для времени ожидания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0C23B-25D5-4F5E-9E45-0280AF1E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4AF56-0AB1-4F9A-9942-644F2340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236E4-9B42-40BF-BF23-16690EA6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Плотность вероятности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51A74-87C8-4E86-B9A2-884003E5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f(t | α, θ) =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CC22C-2E9C-47B4-82CE-78005787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t^(α−1) · e^(−t/θ)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1D0D0-CA6C-4D92-ABF4-A361C704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C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6A38E-21B4-4EEA-97D6-A3D2EAF3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95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Γ(α) · θ^α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5EBB1-70A6-418D-A791-FD7C07C7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3C0D2"/>
                </a:solidFill>
                <a:latin typeface="Arial"/>
                <a:ea typeface="Arial"/>
                <a:cs typeface="Arial"/>
              </a:rPr>
              <a:t>t ≥ 0   α &gt; 0   θ &gt;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E8FB5-0596-459F-8512-EF5C5357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361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Среднее  E[T] = αθ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11369-011D-4776-A151-8B056A53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Дисперсия  Var[T] = αθ²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725F9-7B57-4EC3-8CF4-DB94D010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α задаёт форму, θ растягивает шкалу времени.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60F0F-BD3E-4B42-835E-130BA99F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95450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8106F-5861-49D2-8432-BF056BB0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 параметров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E40E8-C0C5-4747-ACB6-A4284D9C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764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Случай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208F5-909B-4ED9-83E1-029DD35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α = 2, θ = 25 мин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AD590-1C16-4D9A-ACD2-DE5E6C00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Среднее: 50 мин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560B6-9493-4375-9ED1-864C3DA8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Мода: 25 мин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542980-D054-45EC-A36A-A8C931CD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147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DF187-2CEB-4877-AABB-BD68D96F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Случай 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EC2A8D-D3AA-4CE4-9CFF-4F684759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434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α = 4, θ = 15 мин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E2B85E-36D1-4699-9408-0B769DE4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96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Среднее: 60 мин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FA1FD1-4107-4733-AA1A-E10BF372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Мода: 45 мин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3F949A-7937-4B7B-AD81-2AF773C4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38825"/>
            <a:ext cx="1052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Параметры иллюстративные, они не оценены на данных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12358247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9E60E-B697-4564-B88B-A183A6A5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D0E89-EC1A-4D69-9ACC-202BC09A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DB0D1-FBD7-43C1-A120-FAC6386C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Параметры можно оценить по истории и перевести в риск SLA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DE2FF-5F5D-42A2-8A29-0EC2AD90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6A967-AA05-49B5-874E-9A3D014A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74D9F-50E3-4FC4-B668-AF2D964A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Оценка методом моментов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DD5B3-1FCB-4EBB-BEFC-A22305CA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По положительным наблюдениям времени 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8B33C-56CB-4B92-A513-62712570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α̂ = x̄² / s²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93BB8-AD2E-4C2E-B01F-BD99FA82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θ̂ = s² / x̄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E2914-50AA-4E73-BB98-3BC37A46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504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x̄ — среднее время   |   s² — выборочная дисперсия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53C9D-C667-4D4F-A4A2-7ECD59E9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D9244-720F-4E6C-BBD6-BA6B8117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Оценка для диспетчера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88C13-A234-4A8B-86B1-5D292B5F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955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P(T &gt; L) = 1 − FΓ(L; α̂, θ̂)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382C1-8BBC-4B93-A1AE-30946A7E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L — допустимый простой по SLA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98C0A-7CCE-4D4C-8B53-A68A0E14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FF73E-3E9A-4DB1-8E3F-ED798D8B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Выбирать слот можно по меньшей вероятности превышения SLA или по 90-му перцентилю времени ожидания.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37B3B-1999-4DFB-B0B4-D9EBF14E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A2EBB-EC28-47B0-95F8-EE37871A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Практическое ограничение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305D18-052A-48FD-A3C1-D040A6DD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29175"/>
            <a:ext cx="7572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Оценивать отдельно по складу и типу операции; проверять калибровку на отложенных периодах и сравнивать с текущим ML-прогнозом.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9866D-8F10-4165-97A1-BF05B3F2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816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Это предлагаемое расширение: в репозитории сейчас обучается HistGradientBoostingRegressor.</a:t>
            </a:r>
          </a:p>
        </p:txBody>
      </p:sp>
    </p:spTree>
    <p:extLst>
      <p:ext uri="{BB962C8B-B14F-4D97-AF65-F5344CB8AC3E}">
        <p14:creationId xmlns:p14="http://schemas.microsoft.com/office/powerpoint/2010/main" val="18446463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1B95D8-819C-4DE2-848D-0E206248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9934A-1A02-47A5-B378-9CDC6009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0172D-4BAD-4D11-8AA7-BBFBA409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G/G/c связывает поток, доки и хвост ожидания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3F172-4517-4659-821C-9A17A8F3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9BC79-FFC4-4195-8EE7-66EC3A1C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5A62C-D75C-4D86-9147-8BDA4BE4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Очередь с общим распределением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704AB-7C30-4AB4-B66C-DABA8ECA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97"/>
          </a:bodyPr>
          <a:lstStyle xmlns:a="http://schemas.openxmlformats.org/drawingml/2006/main">
            <a:def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G/G/c: интервалы прибытия и время обслуживания имеют произвольные распределения, c — число работающих доков.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423E7-20B5-4F2B-AC4D-4734181C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ρ = λ · E[S] /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44E66-A87F-4AA3-8DCD-1E88C151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λ — поток прибытий   |   E[S] — среднее обслуживание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F2240-D8D8-4CCA-B6B7-E2FFFA1D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Для устойчивой очереди требуется ρ &lt; 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F297E-F506-44AF-9D8C-387602E8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ADB07-D190-4E05-8189-AD51C287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Почему здесь уместна Gamma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30562-7847-41B0-93DC-51D1C033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4857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Время простоя положительно и часто имеет правый хвост. Gamma(k, θ) может приближать такую форму.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58500-7C66-423B-9BAD-E2361B49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Сравнивать риск по хвосту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FD4EE-1EE8-4EF4-A088-D560870E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337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P90 / P95 ожидания и вероятность превышения SLA показывают редкие долгие задержки, которые теряются в среднем.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D0E54-8F7F-4981-A7A1-4F834D01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EB477-8721-477B-B22F-00C1E032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Аналитическая постановка из руководства. Текущий backend не рассчитывает очередь G/G/c и не подгоняет Gamma.</a:t>
            </a:r>
          </a:p>
        </p:txBody>
      </p:sp>
    </p:spTree>
    <p:extLst>
      <p:ext uri="{BB962C8B-B14F-4D97-AF65-F5344CB8AC3E}">
        <p14:creationId xmlns:p14="http://schemas.microsoft.com/office/powerpoint/2010/main" val="11134995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A14CA8-D050-4ACD-9835-4A36584E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0A0B3-7EE4-431C-90C8-1FBA53F0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3F1D7-A295-4BB1-9B12-FC1D4FA2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Атланта: открытый хаб снимает часть ожидания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FB8BE-02D4-4E40-8FB5-74B36204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4F267-9769-46E1-90E5-093ED4A2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1BE2E-8343-47EC-BF41-AF420F31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Узел FAC00012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10399-7246-4587-AB86-DEDF0124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16 доков  |  08:00–17:00  |  3 278 событий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DB709-8316-4541-BD19-01ABBCE5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49,1%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3CA43-EBFB-497E-87F9-20587196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прибытия вне часов работы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A2D72-033B-4E75-A7BE-B57C58D9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952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82697-092C-4C0D-80AF-BC7C0542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764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Три примера из сценария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D824D-5D26-46F6-8504-F8EF7A5E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LOAD00064616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10ACF-BCAE-4C50-8395-62D3B166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Рефрижератор, 03:45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64BFF-131F-4752-B0FE-69B5212D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103 → 28 мин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9651E-DA6B-4F74-B8D4-BD2D7FD1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FAC00026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3B7DA-D015-4843-ABD7-2ED19F80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384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6533E-49B4-4D5A-9EE6-A8281ECC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71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LOAD00064692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7C4CB-9920-4090-BB47-828739A2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Dry Van, 07:19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9637C-83D0-4076-8FEF-12273674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575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133 → 27 мин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890BE-4787-454B-8BC6-9BA50513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76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FAC00043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01583-1EE7-4087-A708-D225C073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4C821-F1B8-4A96-8A21-DF755DC4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LOAD00064555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0F54FD-EAB8-48A3-BCF9-EAAEC4A3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Приоритет Fast Track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DFCAEF-AE55-4440-97A3-A5025C22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386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102 → 10 мин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97684E-F8E4-4179-A7AD-DE9AE2AE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−92 мин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007270-0D5A-420D-ACCA-FFC7C67C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5AFD4E-6AC5-4751-BE19-FA5B6C20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Средний простой в окне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B89650-0693-45B9-AE64-6B807A2B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78,2 → 21,4 мин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66860-A0E7-4041-87A5-9E1B4D2E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33950"/>
            <a:ext cx="542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−72,7%  |  910 мин сэкономлено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3285D2-BFC0-4BC4-B964-1F4FD87D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48275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$1 137,50 расчетного штрафа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409629-EB8E-487F-87A3-3BF73B1E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Сценарный расчёт руководства, не результат производственного пилота. Экономия зависит от доступности хабов и принятых ставок.</a:t>
            </a:r>
          </a:p>
        </p:txBody>
      </p:sp>
    </p:spTree>
    <p:extLst>
      <p:ext uri="{BB962C8B-B14F-4D97-AF65-F5344CB8AC3E}">
        <p14:creationId xmlns:p14="http://schemas.microsoft.com/office/powerpoint/2010/main" val="12112142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94C3C-DDBF-4318-82EB-E0D51C35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38567-5496-4345-A60F-8E13C398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D0558-C64F-4E75-B04A-F1D779E9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Филадельфия: связка дневного и круглосуточного хаба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526F3-D6C5-4F64-9F2E-7D150F93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5E7B4-BA3B-4516-A3A6-7EE20AC7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308CD-4B2B-4C9D-B5DD-52CD74AD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FAC00008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5BF96-0BC0-449D-A72C-AA0E54E4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110 доков  |  08:00–17:00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59196-87C7-4037-8BB6-109B26E8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47,9% прибытий вне часов работы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1A168-797A-462A-AD52-616A695D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95450"/>
            <a:ext cx="95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AFC2C-401E-4C17-98BF-F142E27C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FAC00027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110D7-089D-436E-A3DB-CB0D971A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144 дока  |  работает 24/7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FC07B-5FD8-4D53-BBA8-1ACE3AF7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6 870 событий в кластере из двух хабов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46B9A-BBB8-48D7-BB10-C7E4FA42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90F4C-0066-48EB-9C70-41A1064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Примеры маршрута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65D8E-17F8-4D3E-B65E-B4E8436A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05:51  рефрижератор: 72 → 24 мин на FAC00027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9C40D-9F93-4F69-9038-80F68828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10:48  Dedicated Fast Track: 148 → 10 мин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D5E190-E7CD-4156-9949-1F089E7D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952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1206A-1CF3-4781-A391-F964B8EC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Средний простой FAC00008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C5F3F-215B-4EE8-B3A0-9CB8BB8A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005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100,9 → 18,3 мин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3D6E84-9B84-469D-B2B9-CCD5577E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−81,9%  |  1 322 мин  |  $1 652,50 за окно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54EAF-CBA0-438B-8D45-31FBF40A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Сценарный расчёт руководства, не результат производственного пилота. Денежная оценка зависит от принятых ставок.</a:t>
            </a:r>
          </a:p>
        </p:txBody>
      </p:sp>
    </p:spTree>
    <p:extLst>
      <p:ext uri="{BB962C8B-B14F-4D97-AF65-F5344CB8AC3E}">
        <p14:creationId xmlns:p14="http://schemas.microsoft.com/office/powerpoint/2010/main" val="1548480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0D4DB-1705-4A46-84E0-9C29D32B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77C13-CC76-4368-B336-4998F1EF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1149E-A240-46F2-9E1A-359471A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54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Control Tower объединяет карту сети и рабочее место диспетчера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0760D-C216-45B0-B1B8-A6316E7A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FDC52-7497-4E50-8A44-7D4B9425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1A464-96F2-43AF-9A10-BFD2E6CE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Сводка сети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E3961-E39E-4BF5-94BD-37D4AB50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95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Очередь склада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FD311-B7FE-43EC-BF1A-877F7A82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95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Диалог с агентом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9EC75-22B8-460A-8302-E42E6CCD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66875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C7AE7-F317-4212-9E8E-A1E362EB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66875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E18D5-CF2B-468D-A118-81E1E024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285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50 объектов сети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средний простой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своевременность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узкие места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236A0-99CE-46BB-9964-938FD0D4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Выбор склада по режиму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и текущим показателям.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F441A-7D3D-44CB-95F0-6AE5FA4F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2952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почасовой профиль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загрузка бригад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таблица рейсов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фильтры по риску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12B62-C1C7-40D4-9EF6-49CB2B68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386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Результат с назначенным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слотом и доком.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3A7CB-2DDE-486B-AE5A-EE406132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47900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запрос обычным языком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вызов инструментов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автономный режим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Gemini / OpenAI / Ollama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ECAE7-E9CC-4934-977D-024C03AC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3862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Ответ синхронизирует выбранный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склад и снимок оптимизации.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8693E-F552-4513-883E-738B6F69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8B9E1-4C25-48DE-947D-F8436B3D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API: /api/overview  •  /api/optimize  •  /api/predict  •  /api/agent/chat</a:t>
            </a:r>
          </a:p>
        </p:txBody>
      </p:sp>
    </p:spTree>
    <p:extLst>
      <p:ext uri="{BB962C8B-B14F-4D97-AF65-F5344CB8AC3E}">
        <p14:creationId xmlns:p14="http://schemas.microsoft.com/office/powerpoint/2010/main" val="405505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DB9CA-59B3-4826-B474-F122C8E1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5A079-C77D-426C-8BA2-F62774CD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9468C-58CD-4AE2-8C7A-4114EB1B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54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Эффект показан как сценарий модели, а не как результат пилота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B23CE-3FAA-4EFF-8FA0-B56C0045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ED7DC-C468-4435-BA86-1A2F3D1E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47DF9-4B7E-478F-B8AB-DD30EF95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Что уже реализовано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0ADA8-CDF1-4BDA-9565-A89EF499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загрузка и агрегация истории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скоринг рейсов и расписание доков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прогноз времени простоя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перенаправление в городской хаб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веб-дашборд и чат агента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9C813-33A6-4A99-98EB-DF83C2DC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95450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00D58-F8B0-4D97-B25D-4895919C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859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Что нужно проверить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029A5-DB4A-403D-BAD3-159B634A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качество прогноза на holdout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фактическое время обработки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пропускную способность смен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доступность партнёрских хабов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стоимость ожидания для бизнеса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0C27E-23F5-4D5D-8D3B-391E6158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C5941-046B-4A22-9CAF-B1340D02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Рекомендуемый следующий этап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A7948-0494-4743-BD99-E6EBB3C8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Пилот на одном складе: сравнить baseline и рекомендации на одинаковых днях, согласовать ограничения и зафиксировать целевые метрики.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18DB2-2ECD-49E5-B924-24A48EC6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48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Экономия в интерфейсе рассчитывается по условным ставкам ($75/час ожидания и расход топлива на холостом ходу).</a:t>
            </a:r>
          </a:p>
        </p:txBody>
      </p:sp>
    </p:spTree>
    <p:extLst>
      <p:ext uri="{BB962C8B-B14F-4D97-AF65-F5344CB8AC3E}">
        <p14:creationId xmlns:p14="http://schemas.microsoft.com/office/powerpoint/2010/main" val="2108997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2026-10-24T09:44:44.0820000Z</dcterms:created>
  <dcterms:modified xsi:type="dcterms:W3CDTF">2026-10-24T09:44:44.0820000Z</dcterms:modified>
</coreProperties>
</file>