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798f319ce4805" /><Relationship Type="http://schemas.openxmlformats.org/officeDocument/2006/relationships/extended-properties" Target="/docProps/app.xml" Id="R68684a8a5c9b42ae" /><Relationship Type="http://schemas.openxmlformats.org/officeDocument/2006/relationships/officeDocument" Target="/ppt/presentation.xml" Id="R7c44fe4504d348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cbb4719704944"/>
  </p:sldMasterIdLst>
  <p:notesMasterIdLst>
    <p:notesMasterId xmlns:r="http://schemas.openxmlformats.org/officeDocument/2006/relationships" r:id="Re1ec6b363d19499e"/>
  </p:notesMasterIdLst>
  <p:sldIdLst>
    <p:sldId xmlns:r="http://schemas.openxmlformats.org/officeDocument/2006/relationships" id="256" r:id="R2c902ea332f24cc9"/>
    <p:sldId xmlns:r="http://schemas.openxmlformats.org/officeDocument/2006/relationships" id="257" r:id="Rabe33a04c7ba4aac"/>
    <p:sldId xmlns:r="http://schemas.openxmlformats.org/officeDocument/2006/relationships" id="258" r:id="Rdc73ed02dcf643d6"/>
    <p:sldId xmlns:r="http://schemas.openxmlformats.org/officeDocument/2006/relationships" id="259" r:id="Rfa21561591444a3a"/>
    <p:sldId xmlns:r="http://schemas.openxmlformats.org/officeDocument/2006/relationships" id="260" r:id="R6a4fac0332ac49e6"/>
    <p:sldId xmlns:r="http://schemas.openxmlformats.org/officeDocument/2006/relationships" id="261" r:id="Re8dd2d5881384c3c"/>
    <p:sldId xmlns:r="http://schemas.openxmlformats.org/officeDocument/2006/relationships" id="262" r:id="Rb01ddf4192cd4315"/>
    <p:sldId xmlns:r="http://schemas.openxmlformats.org/officeDocument/2006/relationships" id="263" r:id="R52c466a3e303443c"/>
    <p:sldId xmlns:r="http://schemas.openxmlformats.org/officeDocument/2006/relationships" id="264" r:id="R449e0deb59c24431"/>
    <p:sldId xmlns:r="http://schemas.openxmlformats.org/officeDocument/2006/relationships" id="265" r:id="Raff5309ebee94b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16f0b0d8f450d" /><Relationship Type="http://schemas.openxmlformats.org/officeDocument/2006/relationships/slideMaster" Target="/ppt/slideMasters/slideMaster1.xml" Id="Ra3dcbb4719704944" /><Relationship Type="http://schemas.openxmlformats.org/officeDocument/2006/relationships/notesMaster" Target="/ppt/notesMasters/notesMaster1.xml" Id="Re1ec6b363d19499e" /><Relationship Type="http://schemas.openxmlformats.org/officeDocument/2006/relationships/presProps" Target="/ppt/presProps.xml" Id="R77f84a57bdd74526" /><Relationship Type="http://schemas.openxmlformats.org/officeDocument/2006/relationships/tableStyles" Target="/ppt/tableStyles.xml" Id="R7d22d86954f04c80" /><Relationship Type="http://schemas.openxmlformats.org/officeDocument/2006/relationships/slide" Target="/ppt/slides/slide1.xml" Id="R2c902ea332f24cc9" /><Relationship Type="http://schemas.openxmlformats.org/officeDocument/2006/relationships/slide" Target="/ppt/slides/slide2.xml" Id="Rabe33a04c7ba4aac" /><Relationship Type="http://schemas.openxmlformats.org/officeDocument/2006/relationships/slide" Target="/ppt/slides/slide3.xml" Id="Rdc73ed02dcf643d6" /><Relationship Type="http://schemas.openxmlformats.org/officeDocument/2006/relationships/slide" Target="/ppt/slides/slide4.xml" Id="Rfa21561591444a3a" /><Relationship Type="http://schemas.openxmlformats.org/officeDocument/2006/relationships/slide" Target="/ppt/slides/slide5.xml" Id="R6a4fac0332ac49e6" /><Relationship Type="http://schemas.openxmlformats.org/officeDocument/2006/relationships/slide" Target="/ppt/slides/slide6.xml" Id="Re8dd2d5881384c3c" /><Relationship Type="http://schemas.openxmlformats.org/officeDocument/2006/relationships/slide" Target="/ppt/slides/slide7.xml" Id="Rb01ddf4192cd4315" /><Relationship Type="http://schemas.openxmlformats.org/officeDocument/2006/relationships/slide" Target="/ppt/slides/slide8.xml" Id="R52c466a3e303443c" /><Relationship Type="http://schemas.openxmlformats.org/officeDocument/2006/relationships/slide" Target="/ppt/slides/slide9.xml" Id="R449e0deb59c24431" /><Relationship Type="http://schemas.openxmlformats.org/officeDocument/2006/relationships/slide" Target="/ppt/slides/slide10.xml" Id="Raff5309ebee94b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e616f44e443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779794d48941e8" /><Relationship Type="http://schemas.openxmlformats.org/officeDocument/2006/relationships/notesMaster" Target="/ppt/notesMasters/notesMaster1.xml" Id="R8ad6c54dbb294b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987f7039304528" /><Relationship Type="http://schemas.openxmlformats.org/officeDocument/2006/relationships/notesMaster" Target="/ppt/notesMasters/notesMaster1.xml" Id="Ra395e658e79d40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704bb4f831420d" /><Relationship Type="http://schemas.openxmlformats.org/officeDocument/2006/relationships/notesMaster" Target="/ppt/notesMasters/notesMaster1.xml" Id="R24830713bf0f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a3d76dd4aed" /><Relationship Type="http://schemas.openxmlformats.org/officeDocument/2006/relationships/notesMaster" Target="/ppt/notesMasters/notesMaster1.xml" Id="R6f0b3b53a69443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1390b518794df1" /><Relationship Type="http://schemas.openxmlformats.org/officeDocument/2006/relationships/notesMaster" Target="/ppt/notesMasters/notesMaster1.xml" Id="R39ce311bbe3d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35bfdacb9348df" /><Relationship Type="http://schemas.openxmlformats.org/officeDocument/2006/relationships/notesMaster" Target="/ppt/notesMasters/notesMaster1.xml" Id="Re326111d40304b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822eed6414341" /><Relationship Type="http://schemas.openxmlformats.org/officeDocument/2006/relationships/notesMaster" Target="/ppt/notesMasters/notesMaster1.xml" Id="Red7bce6cae9b43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9a92486a1a4e6a" /><Relationship Type="http://schemas.openxmlformats.org/officeDocument/2006/relationships/notesMaster" Target="/ppt/notesMasters/notesMaster1.xml" Id="R99a3398c637542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6a2b2727f4621" /><Relationship Type="http://schemas.openxmlformats.org/officeDocument/2006/relationships/notesMaster" Target="/ppt/notesMasters/notesMaster1.xml" Id="R217471b4e81341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af8c742ad54192" /><Relationship Type="http://schemas.openxmlformats.org/officeDocument/2006/relationships/notesMaster" Target="/ppt/notesMasters/notesMaster1.xml" Id="Rbcdf6f237e86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backend/main.py;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backend/queue_optimizer.py;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backend/data_loader.py; frontend/app.js.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 Формула и свойства распределения: NIST/SEMATECH Engineering Statistics Handbook, https://www.itl.nist.gov/div898/handbook/apr/section1/apr165.htm. Гамма-распределение не реализовано в текущем коде.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backend/data_loader.py. Формула метода моментов и свойства Gamma: NIST/SEMATECH Engineering Statistics Handbook, https://www.itl.nist.gov/div898/handbook/apr/section1/apr165.htm. Это предлагаемый метод, не реализация текущего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frontend/index.html; frontend/app.js; backend/main.py; backend/ai_agent.py.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backend/ml_predictor.py; README.md. Показатели экономии выводятся из модельных правил и принятых ставок, а не из измерений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180234b1a40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351224b2047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26a04d35d4b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02fe756d14d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f69e71f8249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80dc1bee140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0EF02B-4673-45B1-A422-7FCE252FD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D14A42-3BE1-4634-A12F-96D0FFC5B3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D90059-2CF0-4D27-889B-2D4F1B36D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14D1A-AF88-4AEF-A06A-7592D0A7A1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B089D6-EC33-4C1F-951A-F6C07D194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C0715E-2594-4BDA-8A2D-5544DDB25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942602-9393-4C0F-AF1F-181908B414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F41512-B74F-46BB-BBB6-9F8C6D201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ED31DD-E738-4143-BDBB-EF4D69E6A5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F9FB0A-3636-451B-B6FA-4473767D7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6e65e230d74031" /><Relationship Type="http://schemas.openxmlformats.org/officeDocument/2006/relationships/slideLayout" Target="/ppt/slideLayouts/slideLayout1.xml" Id="R1a1ffdc37a0340e8" /><Relationship Type="http://schemas.openxmlformats.org/officeDocument/2006/relationships/slideLayout" Target="/ppt/slideLayouts/slideLayout2.xml" Id="R73d2a02e5de440fd" /><Relationship Type="http://schemas.openxmlformats.org/officeDocument/2006/relationships/slideLayout" Target="/ppt/slideLayouts/slideLayout3.xml" Id="Rb0e6bf384a0e4867" /><Relationship Type="http://schemas.openxmlformats.org/officeDocument/2006/relationships/slideLayout" Target="/ppt/slideLayouts/slideLayout4.xml" Id="R2921e9a080cd4a0e" /><Relationship Type="http://schemas.openxmlformats.org/officeDocument/2006/relationships/slideLayout" Target="/ppt/slideLayouts/slideLayout5.xml" Id="R8fb182c38778432e" /><Relationship Type="http://schemas.openxmlformats.org/officeDocument/2006/relationships/slideLayout" Target="/ppt/slideLayouts/slideLayout6.xml" Id="Rde23c9e10c45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ffdc37a0340e8"/>
    <p:sldLayoutId xmlns:r="http://schemas.openxmlformats.org/officeDocument/2006/relationships" id="2147483650" r:id="R73d2a02e5de440fd"/>
    <p:sldLayoutId xmlns:r="http://schemas.openxmlformats.org/officeDocument/2006/relationships" id="2147483651" r:id="Rb0e6bf384a0e4867"/>
    <p:sldLayoutId xmlns:r="http://schemas.openxmlformats.org/officeDocument/2006/relationships" id="2147483652" r:id="R2921e9a080cd4a0e"/>
    <p:sldLayoutId xmlns:r="http://schemas.openxmlformats.org/officeDocument/2006/relationships" id="2147483653" r:id="R8fb182c38778432e"/>
    <p:sldLayoutId xmlns:r="http://schemas.openxmlformats.org/officeDocument/2006/relationships" id="2147483654" r:id="Rde23c9e10c4548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bd18690bb4271" /><Relationship Type="http://schemas.openxmlformats.org/officeDocument/2006/relationships/notesSlide" Target="/ppt/notesSlides/notesSlide1.xml" Id="R49945d1f155a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4a2ac862a4e26" /><Relationship Type="http://schemas.openxmlformats.org/officeDocument/2006/relationships/notesSlide" Target="/ppt/notesSlides/notesSlide2.xml" Id="R7e8bedfd31c4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9b9f319bd4a90" /><Relationship Type="http://schemas.openxmlformats.org/officeDocument/2006/relationships/notesSlide" Target="/ppt/notesSlides/notesSlide3.xml" Id="R55fe202ccdfc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a1691b2134cd8" /><Relationship Type="http://schemas.openxmlformats.org/officeDocument/2006/relationships/notesSlide" Target="/ppt/notesSlides/notesSlide4.xml" Id="Ra08abb8c968a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e9e9d39764510" /><Relationship Type="http://schemas.openxmlformats.org/officeDocument/2006/relationships/notesSlide" Target="/ppt/notesSlides/notesSlide5.xml" Id="R8f3f7730ab9f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1887085db4463" /><Relationship Type="http://schemas.openxmlformats.org/officeDocument/2006/relationships/notesSlide" Target="/ppt/notesSlides/notesSlide6.xml" Id="Rec67b7bf17da4b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38d5efa354f62" /><Relationship Type="http://schemas.openxmlformats.org/officeDocument/2006/relationships/notesSlide" Target="/ppt/notesSlides/notesSlide7.xml" Id="R0538123348884a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ac37fe5e54c5c" /><Relationship Type="http://schemas.openxmlformats.org/officeDocument/2006/relationships/notesSlide" Target="/ppt/notesSlides/notesSlide8.xml" Id="R0eb319eb89ba45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c08324b1245c7" /><Relationship Type="http://schemas.openxmlformats.org/officeDocument/2006/relationships/notesSlide" Target="/ppt/notesSlides/notesSlide9.xml" Id="Rdce71824ae1d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7250b414a4d62" /><Relationship Type="http://schemas.openxmlformats.org/officeDocument/2006/relationships/notesSlide" Target="/ppt/notesSlides/notesSlide10.xml" Id="R8e27a16db6e842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0C9BA-E899-4910-983F-E1AADD0D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845B7-349B-48FC-8C0A-37C80A0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F03B7-2E96-4D67-8938-B6C4A8A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906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22CA5-25FD-4DF3-A2C0-450461F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620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D271C-E2DF-4AA1-A337-01743368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0563C-4922-48ED-AA43-A8E184F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19050">
            <a:solidFill>
              <a:srgbClr val="39C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40202-B656-438C-8FD1-0DEBA15C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CF8F-385A-42D0-AB6B-3330B04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34D12-E2D1-409E-A4CE-73D26832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D486A-8495-40CE-ADF1-E7D3D21F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481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C4347-D6C9-4CC9-AE8D-DB33B3A8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47184-6705-4F42-83E0-736B8C2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CONTROL TOWER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B745A-CCF2-4325-A9DC-4325B1D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733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AI-агент управления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логистическими очередями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E72C3-EB8E-403F-8047-25573AE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Планирование доков, приоритетов и времени прибытия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основе истории событий доставки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0D4E9-C447-4E12-8A09-2ED4868B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80DA4-C741-4CA4-8C88-5372A77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Проект веб-дашборда и backend-сервиса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BA8B3-2897-4588-AAA9-4DCE88D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FastAPI  |  scikit-learn  |  JavaScript</a:t>
            </a:r>
          </a:p>
        </p:txBody>
      </p:sp>
    </p:spTree>
    <p:extLst>
      <p:ext uri="{BB962C8B-B14F-4D97-AF65-F5344CB8AC3E}">
        <p14:creationId xmlns:p14="http://schemas.microsoft.com/office/powerpoint/2010/main" val="1123271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47709-9057-408E-B917-96A0D03B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D88BA-10A0-48FD-9F1E-73AD221A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1A65B-BD6F-4B65-9ECB-DEB8F30C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Узкое место возникает до дока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05A33-AEFD-4FF9-B317-D2320021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194A7-6D68-4DB9-9DC7-B64CAC67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B8A26-D16B-428C-BAF4-AE104DBB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Несогласованный приезд превращает время в ожидание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89E58-A173-4238-A1EB-C9BFF09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998C-1F76-4C5C-B338-81FE62D2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28651-34D6-43CB-B4D8-4B77B7B4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Окно склада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EE16E-AA04-4ED6-8A19-90EAF863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 совпадает с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07BAE-A1C5-4BEE-ACCD-F64B72D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8C94D-EC76-4824-94A9-C03B636A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24EDB-4C47-4BCE-AE0F-FB6CC360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D2537-FD7A-491E-AA38-6666864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ABA42-BEB9-46EA-B860-D9908F2D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Поток машин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8E698-5C05-4B31-8FCB-0F564581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пики и опоздания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сгущаются по часам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633B7-CBBC-48C1-AF84-B359FCFE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CC879-EC58-4C14-90CE-C0F6FC0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AED38-3EC4-43AC-A2F9-BC43D8A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3F430-9DB4-4BFD-B077-2DE474D9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518A5-12D5-4810-9335-B42121E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Доступные бригады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6C6CE-6C8D-458C-ACCF-5EFE38A2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часть ворот не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обслуживается одновременно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11FDB-0C6E-42F3-BCFC-516CBAAC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CBC0D-EF66-4780-93EE-7C998BDE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BB7DC-8683-410D-AEFF-BF0FE14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5EE63-E65A-4452-AD9D-3FDEE09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77AC0-0CE6-439B-893D-7100567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у ворот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46E1D-6FE4-4609-8CB5-2FB880A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простой и риск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срыва 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4A43B5-42D8-4A1D-BB16-C47A2ACF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2902D-2554-439A-9AE9-8AA4598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Задача системы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8C056-144D-4161-B5BC-5D71D766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98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Свести назначение слота, выбор дока и правила приоритета в один сценарий диспетчера.</a:t>
            </a:r>
          </a:p>
        </p:txBody>
      </p:sp>
    </p:spTree>
    <p:extLst>
      <p:ext uri="{BB962C8B-B14F-4D97-AF65-F5344CB8AC3E}">
        <p14:creationId xmlns:p14="http://schemas.microsoft.com/office/powerpoint/2010/main" val="49840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AD72E-91B4-4421-BA45-D5D1A3B1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30499-C9A1-4612-BBE4-41FD652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8DE69-2AE0-487B-809E-BD58212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Единая модель сети опирается на историю рейсов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68D8A-208E-4FF6-9808-135F4FAD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EBED8-F42D-4564-B4FE-983C4E8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10C58-2D25-4DAC-9833-E039693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Заявленный в README масштаб набора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B4102-D08B-4826-B716-490D35BD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1E902-779F-4D41-8217-54DA61E7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8A7BA-0EB8-48F2-BF81-88674573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170 820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A2FA4-A33A-45CF-94A1-57CBD7D5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событий доставки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4A84F-7BDF-4E2D-9B9C-AE43593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85 410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12CE4-14DF-4E0A-9584-BD986DBB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грузов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247C4-9499-40C5-A20D-9548BC2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52087-DD1E-452C-B48D-2791598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ИСТОЧНИКИ В МОДЕЛИ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6B4F9-838B-4054-A96A-1781D89F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54BE0-1E66-4ACA-8C68-2CCF0769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C92EE-814F-41AB-B9E2-E24D932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005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 / факт прибытия, простой, своевременность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182C-8515-4C73-B927-CDD995ED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136BA-2B15-41D9-B62B-B6A73985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Справочники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7F736-9FC9-4954-952F-4BA14E0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96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склады, доки, режим работы, города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EB522-0AEC-4454-A45F-0B7A90E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B8A36-9F4E-4131-BA8B-DAFE2312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Характеристики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7AFC3-DAEE-458D-8648-A431A2B5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3877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груза, контракт, вес и число мест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B7C73-7BC7-45FE-9D17-84F1CB0F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Путь к CSV зашит в настройках проекта; сами CSV в репозитории не приложены.</a:t>
            </a:r>
          </a:p>
        </p:txBody>
      </p:sp>
    </p:spTree>
    <p:extLst>
      <p:ext uri="{BB962C8B-B14F-4D97-AF65-F5344CB8AC3E}">
        <p14:creationId xmlns:p14="http://schemas.microsoft.com/office/powerpoint/2010/main" val="357124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6099E-251E-4C06-A6AD-2A4A0D81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8587C-923A-4C83-81FF-CA4BD529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C888F-9612-45CB-BFC4-BD41033C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сортируется по операционному риску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679FE-8809-422B-A66A-F839845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3C178-AF12-49E6-805F-570D57D6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2BFCF-98B1-4A9E-98BF-5772D53E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Скоринг 15–99 баллов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52D2D-1857-4A71-BC96-827CC10C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Баллы складываются из четырёх факторов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9E6AA-105F-48FA-8CDA-87B0BFDD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0A46C-03E1-4C9E-82D9-03136EAA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Рефрижератор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337C0-F91E-4A31-926F-2899591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+34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01736-0B6B-4870-8601-41B1DF2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5B7CB-AEE2-43D8-96B2-A705D869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Dedicated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ADF1E-0CDD-429B-AC34-2C3FBB8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05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15734-D258-44D5-A743-181C9AAD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05D6E-38FA-44EE-ADF6-3707394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Риск задержки /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AF497-FFAD-4355-BE01-4B500804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до +26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3A472-0027-420F-A355-F59A5AF3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042A8-A676-4DFE-95D1-7F2656D0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Ценность и вес груза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B9D52-01C4-49E6-AF7F-1780E7A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577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до +16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D24E1-94FF-4C4A-9F1C-15E4194A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43075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BD3D8-1033-4F89-ACE5-C2658F5A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Уровни приоритета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C90D6-FAAF-4BB6-98BF-7BE0CF4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75–99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34EAF-3CB0-4F64-8C52-AF495BB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764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Критический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B142F-929A-409B-B8DA-E5E4A012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Fast-Track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D601D-6DE8-4220-A988-1F6EABC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DE8E5-4ADC-4578-8453-5680838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55–74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07E43-23CD-40A5-B2F4-2E65D32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Высокий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ABE85-5D17-4E6F-8DC8-533A5551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первым к доку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1CD52-073C-40C8-B165-B1580AC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DC70D-EBFF-4BA0-9B0F-C50F362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38–54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07A78C-B171-4AD7-B318-1C51F6E9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Стандартный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23F3B-4938-40D4-90E7-7962961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обычная очередь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07C25-0EE1-44AD-B33E-A330351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2B9F9A-7990-4DF1-A81A-CAEA348F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15–37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274AC3-E123-421A-BA13-A2647AAA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Гибкий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F7319E-3B3E-42A3-89CA-C6B321AF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 с меньшей нагрузкой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095C4-DAAA-4A89-B295-B542BABA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Окончательное назначение ограничено рабочими часами и числом активных доков.</a:t>
            </a:r>
          </a:p>
        </p:txBody>
      </p:sp>
    </p:spTree>
    <p:extLst>
      <p:ext uri="{BB962C8B-B14F-4D97-AF65-F5344CB8AC3E}">
        <p14:creationId xmlns:p14="http://schemas.microsoft.com/office/powerpoint/2010/main" val="2090351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7B0B0-66C1-456A-935A-29BEF121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44014-FFD6-45A3-B3B5-EB144D81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D2F38-A55A-4329-9A2D-8A9592AA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Операционный контур: прогноз, назначение, 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D9BF4-0BC1-4F44-A3DE-3A849D7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7AA39-C2CB-4595-975B-7BF0CFC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27D39-B0DC-40C0-AE33-603C870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EDF4C-99FA-4B8A-B466-89CB64B9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C80C6-2F5D-4100-BD72-577E87E1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E9C20-752C-4388-91F3-2DE152D0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Фура прибыла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или задерживается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A41BE-BA65-474A-B4E2-5390684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BBBC4-FC14-48DE-8AD0-11E543C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1EAD3-7935-4E13-A343-950DC3A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0770A-AE96-4D05-B221-876B2E4A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BDA93-B385-4D80-9740-3BCD6ED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B0237-8877-4873-89A7-A3A6EB20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Приоритет, ETA,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груза и простой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76C94-1D37-4EE8-9E47-AF7F504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F5E47-5DFC-4906-BFCE-233003DF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426DD-CAF8-4103-AD59-EF1A49FD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8AAE6-A648-4D7E-963B-23B65FF6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2388E-EB7D-4A4B-96D4-E0DFD7C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125E6-91C2-4B79-A0D1-F88529F6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Док и время в пределах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смены и мощности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632AA-6EE1-40AA-ADE6-3F192C7A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670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2E7F2-B985-46F5-9E98-050180C1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032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3A46D-F977-4D0F-84BE-402674A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14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F55EB-C437-423C-A366-65324430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670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B7D5DA-4758-412A-950B-71DAD547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24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03885-05DD-4078-8EBE-8320F3A0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004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Слот, Fast-Track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или городской хаб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E2AAA-27C5-41FD-946B-E30E63F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420007-B3C0-449E-9D30-1ED8473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Если склад закрыт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0AE194-5242-4263-8176-845F9E48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720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Перенос в открытое окно или перенаправление в хаб того же города, если найден подходящий кандидат.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0F918-A279-413F-9C12-6AB0DC22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В демо доступны стресс-сценарий с дополнительными фурами и изменение числа активных бригад.</a:t>
            </a:r>
          </a:p>
        </p:txBody>
      </p:sp>
    </p:spTree>
    <p:extLst>
      <p:ext uri="{BB962C8B-B14F-4D97-AF65-F5344CB8AC3E}">
        <p14:creationId xmlns:p14="http://schemas.microsoft.com/office/powerpoint/2010/main" val="613159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04730-6EEA-4F87-866E-53CCAB59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799FB-0653-4979-9B50-673A2E92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C205E-91B9-49CA-8AC5-25307A01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ML-модуль оценивает простой и предлагает час прибытия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8D248-21A7-4D1E-B8AE-C3B48546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3B310-8BEE-4DAD-AE47-DCFBB1D7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27805-D045-4337-B3ED-A1F2214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HistGradientBoostingRegressor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2BC23-427F-47C6-B5E5-3D3B56E4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Обучение при запуске сервера на выборке до 45 000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92D43-D0C0-40E0-9C69-033DF2DD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31881-6A0E-4BA5-ABAD-B54D7742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527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работы, число ворот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47EF9-39CC-4639-89BE-EF10E81D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8916A-40AA-4C88-B328-345F423A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Груз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DA2E2-1F0D-4EE2-B24A-87AC8370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вес, места, рефрижератор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121BD-D9F4-4C32-B64A-76472E19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80445-1640-4B36-A822-C3F3A66B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Рейс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3BB39-FAD1-4E79-A177-21DA3ACC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528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события, контракт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83CE3-54F6-4828-8D18-73EB0E9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D92A2-6696-4F5C-A020-875774BB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826EE-56A9-4359-B02E-F553FCB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 прибытия, день, задержка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F341E-F358-4088-A8C8-A1A31133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5FD65-3525-4A05-AB84-007640D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E08BC-F0C0-4975-89F6-4D970DC4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сценария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EC5AA-CE03-49E3-ADA1-0EA7AC9A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1B993-B5E4-45EA-B5B5-5214EAB7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24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пользовательский слот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67C18-F5C7-4B8D-ACA8-DDA5C82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19475"/>
            <a:ext cx="376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3B892-65AC-47D9-8E8A-57CA43F2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432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F26F7-77DB-4FB4-89C9-7E05517E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98A38-9F45-4EB6-9D0C-B841E13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рекомендация модели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BC075-4F1A-4D99-9FC9-1A6EDE1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Час выбирается по минимальному прогнозу среди открытых окон.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EEF52-9B2E-4713-BEF5-1FBA35A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Качество требует отдельной проверки на отложенной выборке: текущая MAE считается на тех же данных, что использовались для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504503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B1E9B-ABEA-400B-BF3A-820F923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90B5F-F8A5-4728-91FE-64552F18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C89A2-A64D-4D8C-A79D-99BE224E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Гамма-распределение для времени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C4A0C-CACF-42C7-B4A8-B5C3FE55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B8DB8-952A-434C-B3FB-CD51AE04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70804-5521-481E-9F5F-04FEE988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Плотность вероятности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AEC27-1C3C-4767-AF7E-B455C762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f(t | α, θ)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8AD04-2841-44CA-BA18-771BED3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t^(α−1) · e^(−t/θ)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78574-909A-4658-8774-6F7957FD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2C1D6-12D0-449A-B1FB-BD53C1FC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Γ(α) · θ^α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C96D0-A6BE-4539-87CC-26A69D47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C0D2"/>
                </a:solidFill>
                <a:latin typeface="Arial"/>
                <a:ea typeface="Arial"/>
                <a:cs typeface="Arial"/>
              </a:rPr>
              <a:t>t ≥ 0   α &gt; 0   θ &gt;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79B60-CF87-4533-BD89-ACCE470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Среднее  E[T] = αθ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EFD13-A1FD-4C51-94FB-FCF07D6F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Дисперсия  Var[T] = αθ²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37395-2AE0-4717-920F-E7DB8C6B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α задаёт форму, θ растягивает шкалу времени.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2DE28-C9D4-4C5B-9E96-0E95B29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1E538-C787-4752-B140-F208A3A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параметров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82A61-1B6C-4AC6-BDAD-C4A9FA0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Случай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EBC5B-213E-46E4-B5B1-DC6741E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2, θ = 25 мин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AA232-BAEF-4D45-8F9F-60D942B6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50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7A843-9CA6-4B96-B066-4ED09D86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25 мин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D78BD-EA16-4436-9E16-612D9679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ECF5F-22FA-416A-85F2-21046B8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Случай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241F9-1A79-4AAB-95C3-A8E50FB2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4, θ = 15 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F95D4-24B6-4E8D-8C6A-8C7634A9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60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E6C31-1151-4E42-9369-0B8CC3B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45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4C91A-AAEA-4580-97EF-C55106A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Параметры иллюстративные, они не оценены на данных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56822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5CAD6-882A-490B-9440-F916FADA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C91C8-D8EF-446D-AA70-81DEFA8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B638E-0730-4A54-A355-27C2C36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 можно оценить по истории и перевести в риск 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DC170-5623-4940-AD75-AB6310C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F46BD-F5A1-4B76-B029-655A5132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675DF-3542-49CD-B219-BE16477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Оценка методом моментов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9C639-4799-4CAC-830A-10EC99FC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положительным наблюдениям времени 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8DB07-21B0-48C8-9FF7-773E1CC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α̂ = x̄² / s²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067DD-DEDC-42F5-8380-778D834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θ̂ = s² / x̄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B2AC3-10D3-4E66-BEC6-B2002F8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x̄ — среднее время   |   s² — выборочная дисперсия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C89CD-D196-41D3-A295-DD4484AC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53226-F95A-4489-A5D8-CB6F73A5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Оценка для диспетчера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2120C-FF6A-4774-918A-CC0EEA7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P(T &gt; L) = 1 − FΓ(L; α̂, θ̂)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36F7B-4548-4538-AA5C-DE79B0AE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L — допустимый простой по 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99627-5AD3-412F-BEE4-3270A0DE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56643-A0D6-49BA-9483-D22DCBA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Выбирать слот можно по меньшей вероятности превышения SLA или по 90-му перцентилю времени ожидания.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574B1-16B2-471A-88F1-2DB2ED55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6E4A8-63B1-4075-B6E4-C2B4281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Практическое ограничение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DB88D-6277-4BFD-8BC8-1110F77A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29175"/>
            <a:ext cx="7572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Оценивать отдельно по складу и типу операции; проверять калибровку на отложенных периодах и сравнивать с текущим ML-прогнозом.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FAA98-F118-4F81-8178-8EA6597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Это предлагаемое расширение: в репозитории сейчас обучается HistGradientBoostingRegressor.</a:t>
            </a:r>
          </a:p>
        </p:txBody>
      </p:sp>
    </p:spTree>
    <p:extLst>
      <p:ext uri="{BB962C8B-B14F-4D97-AF65-F5344CB8AC3E}">
        <p14:creationId xmlns:p14="http://schemas.microsoft.com/office/powerpoint/2010/main" val="713125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8E345-426C-47F6-840F-60D1CED0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7D692-A150-4747-AE72-751E339B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E9C8-2466-44E9-8389-D58B07B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Control Tower объединяет карту сети и рабочее место диспетчера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FD36F-EC93-4185-B9BD-6C3E0FB5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B8DDC-6B25-4DEB-BDAD-FACC49C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5C35A-AD0B-48A9-B77B-D0380B8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Сводка сети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A631E-D4D1-4E34-8625-81C9EABA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Очередь склада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2C0C1-8754-42EF-98D7-8BD457A4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Диалог с агентом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2FF27-F130-4476-B87F-ABCF1B91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2100C-F391-4373-BD60-F93D5BD9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58B17-23F5-4114-B5F6-736CA251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50 объектов сети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средний простой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своевременность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узкие места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AB371-0D41-4816-A49C-05D5E10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Выбор склада по режиму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 текущим показателям.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4F558-6A25-4C32-8887-DCDBD9A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почасовой профиль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бригад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таблица рейсов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фильтры по риску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B84AA-E4B7-457F-9045-730394E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Результат с назначенным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слотом и доком.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5E4EE-9067-4A81-929F-C2A036D3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479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запрос обычным языком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вызов инструментов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автономный режим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Gemini / OpenAI / Ollama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4A33D-A9F0-4970-AFE3-95F12E1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Ответ синхронизирует выбранный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 и снимок оптимизации.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35179-80B6-4D08-B048-185F41A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4192E-AD05-4CB4-8B07-F800A0D2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API: /api/overview  •  /api/optimize  •  /api/predict  •  /api/agent/chat</a:t>
            </a:r>
          </a:p>
        </p:txBody>
      </p:sp>
    </p:spTree>
    <p:extLst>
      <p:ext uri="{BB962C8B-B14F-4D97-AF65-F5344CB8AC3E}">
        <p14:creationId xmlns:p14="http://schemas.microsoft.com/office/powerpoint/2010/main" val="2118257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2B61F-57E5-4318-B8F1-1D848ED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B83D1-9738-4A5A-996F-6FC66BFC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01F03-94ED-4BCD-9755-2AA056F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Эффект показан как сценарий модели, а не как результат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0A4F4-65D7-4847-B6F5-E5327EF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6F4F2-C614-4BCB-955D-AF0D865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6163E-116F-48FC-8E48-640F8BB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Что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CBEDC-13B0-4DB5-B7CD-CF08010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и агрегация истории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скоринг рейсов и расписание доков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прогноз времени простоя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перенаправление в городской хаб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веб-дашборд и чат агента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82436-FD7C-4EB6-BE60-D5FAFA1C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4EAC8-8752-4D24-A47C-EDD417C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Что нужно проверить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0F257-E066-4E27-9FC9-624F1A31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качество прогноза на holdout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фактическое время обработки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пропускную способность смен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доступность партнёрских хабов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стоимость ожидания для бизнеса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947EA-461C-43C8-B205-C19A4D8F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E24FC-3FA7-4600-AF4B-AA726105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Рекомендуемый следующий этап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3AB66-7D90-4CA4-8D3C-67ED736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Пилот на одном складе: сравнить baseline и рекомендации на одинаковых днях, согласовать ограничения и зафиксировать целевые метрики.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87DFF-1B52-4D0C-B8A4-065EEADC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Экономия в интерфейсе рассчитывается по условным ставкам ($75/час ожидания и расход топлива на холостом ходу).</a:t>
            </a:r>
          </a:p>
        </p:txBody>
      </p:sp>
    </p:spTree>
    <p:extLst>
      <p:ext uri="{BB962C8B-B14F-4D97-AF65-F5344CB8AC3E}">
        <p14:creationId xmlns:p14="http://schemas.microsoft.com/office/powerpoint/2010/main" val="1407453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2026-10-24T09:21:16.8150000Z</dcterms:created>
  <dcterms:modified xsi:type="dcterms:W3CDTF">2026-10-24T09:21:16.8160000Z</dcterms:modified>
</coreProperties>
</file>